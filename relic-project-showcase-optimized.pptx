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svg"/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8.svg"/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F2235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0" y="952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0" y="2095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0" y="3238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0" y="4381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0" y="5524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0" y="6667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763000" y="0"/>
            <a:ext cx="3429000" cy="1714500"/>
          </a:xfrm>
          <a:prstGeom prst="rect">
            <a:avLst/>
          </a:prstGeom>
          <a:solidFill>
            <a:srgbClr val="1024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62000" y="952500"/>
            <a:ext cx="5334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1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51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Relic</a:t>
            </a:r>
            <a:endParaRPr sz="51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19150" y="1885950"/>
            <a:ext cx="590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基于 OpenClaw 的多 AI 编排助手</a:t>
            </a:r>
            <a:endParaRPr sz="187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38200" y="2400300"/>
            <a:ext cx="6667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把多家大模型、私有知识库、网页资料与工具调用编排进同一个对话工作台。</a:t>
            </a:r>
            <a:endParaRPr sz="135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38200" y="3143250"/>
            <a:ext cx="1200150" cy="285750"/>
          </a:xfrm>
          <a:prstGeom prst="rect">
            <a:avLst/>
          </a:prstGeom>
          <a:solidFill>
            <a:srgbClr val="0D2030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14400" y="3219450"/>
            <a:ext cx="1047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多模型编排</a:t>
            </a:r>
            <a:endParaRPr sz="82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171700" y="3143250"/>
            <a:ext cx="1200150" cy="285750"/>
          </a:xfrm>
          <a:prstGeom prst="rect">
            <a:avLst/>
          </a:prstGeom>
          <a:solidFill>
            <a:srgbClr val="0D2030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247900" y="3219450"/>
            <a:ext cx="1047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34D39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34D39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RAG 知识库</a:t>
            </a:r>
            <a:endParaRPr sz="825" b="1">
              <a:solidFill>
                <a:srgbClr val="34D39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505200" y="3143250"/>
            <a:ext cx="1200150" cy="285750"/>
          </a:xfrm>
          <a:prstGeom prst="rect">
            <a:avLst/>
          </a:prstGeom>
          <a:solidFill>
            <a:srgbClr val="0D2030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3581400" y="3219450"/>
            <a:ext cx="1047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网页资源</a:t>
            </a:r>
            <a:endParaRPr sz="82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4838700" y="3143250"/>
            <a:ext cx="1200150" cy="285750"/>
          </a:xfrm>
          <a:prstGeom prst="rect">
            <a:avLst/>
          </a:prstGeom>
          <a:solidFill>
            <a:srgbClr val="0D2030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4914900" y="3219450"/>
            <a:ext cx="1047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工具执行</a:t>
            </a:r>
            <a:endParaRPr sz="825" b="1">
              <a:solidFill>
                <a:srgbClr val="F59E0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172200" y="3143250"/>
            <a:ext cx="1200150" cy="285750"/>
          </a:xfrm>
          <a:prstGeom prst="rect">
            <a:avLst/>
          </a:prstGeom>
          <a:solidFill>
            <a:srgbClr val="0D2030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248400" y="3219450"/>
            <a:ext cx="1047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成果物 Studio</a:t>
            </a:r>
            <a:endParaRPr sz="82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239000" y="1428750"/>
            <a:ext cx="1123950" cy="495300"/>
          </a:xfrm>
          <a:prstGeom prst="rect">
            <a:avLst/>
          </a:prstGeom>
          <a:solidFill>
            <a:srgbClr val="162234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7334250" y="1590675"/>
            <a:ext cx="933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DeepSeek</a:t>
            </a:r>
            <a:endParaRPr sz="97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0001250" y="1809750"/>
            <a:ext cx="1123950" cy="495300"/>
          </a:xfrm>
          <a:prstGeom prst="rect">
            <a:avLst/>
          </a:prstGeom>
          <a:solidFill>
            <a:srgbClr val="162234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10096500" y="1971675"/>
            <a:ext cx="933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Qwen</a:t>
            </a:r>
            <a:endParaRPr sz="975" b="1">
              <a:solidFill>
                <a:srgbClr val="F59E0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0001250" y="4648200"/>
            <a:ext cx="1123950" cy="495300"/>
          </a:xfrm>
          <a:prstGeom prst="rect">
            <a:avLst/>
          </a:prstGeom>
          <a:solidFill>
            <a:srgbClr val="162234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10096500" y="4810125"/>
            <a:ext cx="933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34D39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34D39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Ollama</a:t>
            </a:r>
            <a:endParaRPr sz="975" b="1">
              <a:solidFill>
                <a:srgbClr val="34D39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524875" y="5314950"/>
            <a:ext cx="1123950" cy="495300"/>
          </a:xfrm>
          <a:prstGeom prst="rect">
            <a:avLst/>
          </a:prstGeom>
          <a:solidFill>
            <a:srgbClr val="162234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8620125" y="5476875"/>
            <a:ext cx="933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RAG</a:t>
            </a:r>
            <a:endParaRPr sz="97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5905500" y="4095750"/>
            <a:ext cx="1123950" cy="495300"/>
          </a:xfrm>
          <a:prstGeom prst="rect">
            <a:avLst/>
          </a:prstGeom>
          <a:solidFill>
            <a:srgbClr val="162234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000750" y="4257675"/>
            <a:ext cx="933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Tools</a:t>
            </a:r>
            <a:endParaRPr sz="975" b="1">
              <a:solidFill>
                <a:srgbClr val="F59E0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7067550" y="4762500"/>
            <a:ext cx="1123950" cy="495300"/>
          </a:xfrm>
          <a:prstGeom prst="rect">
            <a:avLst/>
          </a:prstGeom>
          <a:solidFill>
            <a:srgbClr val="162234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7162800" y="4924425"/>
            <a:ext cx="933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A78BF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A78BF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Kimi</a:t>
            </a:r>
            <a:endParaRPr sz="975" b="1">
              <a:solidFill>
                <a:srgbClr val="A78BF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 flipV="1">
            <a:off x="8362950" y="1676400"/>
            <a:ext cx="209550" cy="18000"/>
          </a:xfrm>
          <a:prstGeom prst="rect">
            <a:avLst/>
          </a:prstGeom>
          <a:solidFill>
            <a:srgbClr val="2940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8572500" y="1676400"/>
            <a:ext cx="19050" cy="1524000"/>
          </a:xfrm>
          <a:prstGeom prst="rect">
            <a:avLst/>
          </a:prstGeom>
          <a:solidFill>
            <a:srgbClr val="2940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9696450" y="2057400"/>
            <a:ext cx="304800" cy="19050"/>
          </a:xfrm>
          <a:prstGeom prst="rect">
            <a:avLst/>
          </a:prstGeom>
          <a:solidFill>
            <a:srgbClr val="2940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9696450" y="2057400"/>
            <a:ext cx="19050" cy="1143000"/>
          </a:xfrm>
          <a:prstGeom prst="rect">
            <a:avLst/>
          </a:prstGeom>
          <a:solidFill>
            <a:srgbClr val="2940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8191500" y="5010150"/>
            <a:ext cx="381000" cy="19050"/>
          </a:xfrm>
          <a:prstGeom prst="rect">
            <a:avLst/>
          </a:prstGeom>
          <a:solidFill>
            <a:srgbClr val="2940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8572500" y="3638550"/>
            <a:ext cx="19050" cy="1371600"/>
          </a:xfrm>
          <a:prstGeom prst="rect">
            <a:avLst/>
          </a:prstGeom>
          <a:solidFill>
            <a:srgbClr val="2940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9696450" y="4895850"/>
            <a:ext cx="304800" cy="19050"/>
          </a:xfrm>
          <a:prstGeom prst="rect">
            <a:avLst/>
          </a:prstGeom>
          <a:solidFill>
            <a:srgbClr val="2940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9696450" y="3638550"/>
            <a:ext cx="19050" cy="1257300"/>
          </a:xfrm>
          <a:prstGeom prst="rect">
            <a:avLst/>
          </a:prstGeom>
          <a:solidFill>
            <a:srgbClr val="2940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9096375" y="5314950"/>
            <a:ext cx="19050" cy="19050"/>
          </a:xfrm>
          <a:prstGeom prst="rect">
            <a:avLst/>
          </a:prstGeom>
          <a:solidFill>
            <a:srgbClr val="2940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9096375" y="3600450"/>
            <a:ext cx="19050" cy="1710000"/>
          </a:xfrm>
          <a:prstGeom prst="rect">
            <a:avLst/>
          </a:prstGeom>
          <a:solidFill>
            <a:srgbClr val="2940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7029450" y="4343400"/>
            <a:ext cx="1543050" cy="19050"/>
          </a:xfrm>
          <a:prstGeom prst="rect">
            <a:avLst/>
          </a:prstGeom>
          <a:solidFill>
            <a:srgbClr val="2940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8572500" y="3295650"/>
            <a:ext cx="19050" cy="1047750"/>
          </a:xfrm>
          <a:prstGeom prst="rect">
            <a:avLst/>
          </a:prstGeom>
          <a:solidFill>
            <a:srgbClr val="2940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8572500" y="3028950"/>
            <a:ext cx="1143000" cy="571500"/>
          </a:xfrm>
          <a:prstGeom prst="rect">
            <a:avLst/>
          </a:prstGeom>
          <a:solidFill>
            <a:srgbClr val="0C2534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8705850" y="3248025"/>
            <a:ext cx="876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Relic Core</a:t>
            </a:r>
            <a:endParaRPr sz="105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838200" y="59055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陈永轩 | 2023302111075 | 2026.06</a:t>
            </a:r>
            <a:endParaRPr sz="105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9525000" y="59055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项目展示答辩版</a:t>
            </a:r>
            <a:endParaRPr sz="105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F2235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0" y="952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0" y="2095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0" y="3238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0" y="4381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0" y="5524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0" y="6667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763000" y="0"/>
            <a:ext cx="3429000" cy="1714500"/>
          </a:xfrm>
          <a:prstGeom prst="rect">
            <a:avLst/>
          </a:prstGeom>
          <a:solidFill>
            <a:srgbClr val="1024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33400" y="2667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Relic</a:t>
            </a:r>
            <a:endParaRPr sz="12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66800" y="400050"/>
            <a:ext cx="45720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733550" y="276225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汇报路线</a:t>
            </a:r>
            <a:endParaRPr sz="82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63250" y="295275"/>
            <a:ext cx="904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 / 20</a:t>
            </a:r>
            <a:endParaRPr sz="90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33400" y="685800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五个评分要点被组织成一条完整叙事线</a:t>
            </a:r>
            <a:endParaRPr sz="23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33400" y="1209675"/>
            <a:ext cx="800100" cy="3810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485900" y="1162050"/>
            <a:ext cx="781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先说明为什么做，再证明做成了什么、怎么做、哪里新、如何管理。</a:t>
            </a:r>
            <a:endParaRPr sz="105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5800" y="1638300"/>
            <a:ext cx="10820400" cy="59055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95350" y="1762125"/>
            <a:ext cx="49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1725" b="1">
              <a:solidFill>
                <a:srgbClr val="F59E0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504950" y="1800225"/>
            <a:ext cx="28575" cy="2667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733550" y="17526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选题动机</a:t>
            </a:r>
            <a:endParaRPr sz="135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429000" y="1771650"/>
            <a:ext cx="619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从单模型局限、资料分散、工具不可执行三个痛点切入。</a:t>
            </a:r>
            <a:endParaRPr sz="105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0191750" y="1781175"/>
            <a:ext cx="838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03-04</a:t>
            </a:r>
            <a:endParaRPr sz="97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85800" y="2457450"/>
            <a:ext cx="10820400" cy="590550"/>
          </a:xfrm>
          <a:prstGeom prst="rect">
            <a:avLst/>
          </a:prstGeom>
          <a:solidFill>
            <a:srgbClr val="0F1A28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95350" y="2581275"/>
            <a:ext cx="49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172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504950" y="2619375"/>
            <a:ext cx="28575" cy="26670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1733550" y="257175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软件功能</a:t>
            </a:r>
            <a:endParaRPr sz="135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429000" y="2590800"/>
            <a:ext cx="619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展示对话、知识库、网页导入、工具调用和成果物管理闭环。</a:t>
            </a:r>
            <a:endParaRPr sz="105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0191750" y="2600325"/>
            <a:ext cx="838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05-07</a:t>
            </a:r>
            <a:endParaRPr sz="97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85800" y="3276600"/>
            <a:ext cx="10820400" cy="59055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895350" y="3400425"/>
            <a:ext cx="49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172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504950" y="3438525"/>
            <a:ext cx="28575" cy="26670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1733550" y="33909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技术方案</a:t>
            </a:r>
            <a:endParaRPr sz="135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3429000" y="3409950"/>
            <a:ext cx="619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解释前端、网关、核心后端、模型与数据组件的协同。</a:t>
            </a:r>
            <a:endParaRPr sz="105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0191750" y="3419475"/>
            <a:ext cx="838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08-13</a:t>
            </a:r>
            <a:endParaRPr sz="97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85800" y="4095750"/>
            <a:ext cx="10820400" cy="590550"/>
          </a:xfrm>
          <a:prstGeom prst="rect">
            <a:avLst/>
          </a:prstGeom>
          <a:solidFill>
            <a:srgbClr val="0F1A28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895350" y="4219575"/>
            <a:ext cx="49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172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504950" y="4257675"/>
            <a:ext cx="28575" cy="26670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1733550" y="421005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创新特色</a:t>
            </a:r>
            <a:endParaRPr sz="135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3429000" y="4229100"/>
            <a:ext cx="619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提炼多模型协同、本地语义路由、RAG 溯源与工具闭环。</a:t>
            </a:r>
            <a:endParaRPr sz="105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10191750" y="4238625"/>
            <a:ext cx="838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14-16</a:t>
            </a:r>
            <a:endParaRPr sz="97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685800" y="4914900"/>
            <a:ext cx="10820400" cy="59055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895350" y="5038725"/>
            <a:ext cx="49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</a:t>
            </a:r>
            <a:endParaRPr sz="172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1504950" y="5076825"/>
            <a:ext cx="28575" cy="26670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1733550" y="50292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过程管理</a:t>
            </a:r>
            <a:endParaRPr sz="135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3429000" y="5048250"/>
            <a:ext cx="619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呈现计划、版本迭代、测试验证、风险控制与后续演进。</a:t>
            </a:r>
            <a:endParaRPr sz="105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10191750" y="5057775"/>
            <a:ext cx="838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17-20</a:t>
            </a:r>
            <a:endParaRPr sz="97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F2235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0" y="952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0" y="2095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0" y="3238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0" y="4381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0" y="5524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0" y="6667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763000" y="0"/>
            <a:ext cx="3429000" cy="1714500"/>
          </a:xfrm>
          <a:prstGeom prst="rect">
            <a:avLst/>
          </a:prstGeom>
          <a:solidFill>
            <a:srgbClr val="1024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33400" y="3429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Relic 项目展示</a:t>
            </a:r>
            <a:endParaRPr sz="1200" b="1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991100" y="1428750"/>
            <a:ext cx="21907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7500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191125" y="2819400"/>
            <a:ext cx="1809750" cy="381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524000" y="3124200"/>
            <a:ext cx="9144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2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2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选题动机</a:t>
            </a:r>
            <a:endParaRPr sz="32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381250" y="3905250"/>
            <a:ext cx="7429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真实 AI 应用需要编排能力，而不是只接入一个聊天 API。</a:t>
            </a:r>
            <a:endParaRPr sz="142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095500" y="4857750"/>
            <a:ext cx="1381125" cy="476250"/>
          </a:xfrm>
          <a:prstGeom prst="rect">
            <a:avLst/>
          </a:prstGeom>
          <a:solidFill>
            <a:srgbClr val="162234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209800" y="5010150"/>
            <a:ext cx="11525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背景</a:t>
            </a:r>
            <a:endParaRPr sz="1050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762375" y="4857750"/>
            <a:ext cx="1381125" cy="476250"/>
          </a:xfrm>
          <a:prstGeom prst="rect">
            <a:avLst/>
          </a:prstGeom>
          <a:solidFill>
            <a:srgbClr val="162234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3876675" y="5010150"/>
            <a:ext cx="11525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痛点</a:t>
            </a:r>
            <a:endParaRPr sz="1050" b="1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429250" y="4857750"/>
            <a:ext cx="1381125" cy="476250"/>
          </a:xfrm>
          <a:prstGeom prst="rect">
            <a:avLst/>
          </a:prstGeom>
          <a:solidFill>
            <a:srgbClr val="162234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5543550" y="5010150"/>
            <a:ext cx="11525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目标</a:t>
            </a:r>
            <a:endParaRPr sz="1050" b="1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763250" y="6172200"/>
            <a:ext cx="904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 / 20</a:t>
            </a:r>
            <a:endParaRPr sz="90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F2235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0" y="952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0" y="2095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0" y="3238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0" y="4381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0" y="5524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0" y="6667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763000" y="0"/>
            <a:ext cx="3429000" cy="1714500"/>
          </a:xfrm>
          <a:prstGeom prst="rect">
            <a:avLst/>
          </a:prstGeom>
          <a:solidFill>
            <a:srgbClr val="1024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33400" y="2667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Relic</a:t>
            </a:r>
            <a:endParaRPr sz="12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66800" y="400050"/>
            <a:ext cx="45720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733550" y="276225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选题动机</a:t>
            </a:r>
            <a:endParaRPr sz="82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63250" y="295275"/>
            <a:ext cx="904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 / 20</a:t>
            </a:r>
            <a:endParaRPr sz="90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33400" y="685800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单一大模型不够用，真实任务需要一体化编排</a:t>
            </a:r>
            <a:endParaRPr sz="23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33400" y="1209675"/>
            <a:ext cx="800100" cy="3810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485900" y="1162050"/>
            <a:ext cx="781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Relic 的目标是把“问答、资料、工具、成果物”收束到一个工作台。</a:t>
            </a:r>
            <a:endParaRPr sz="105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5800" y="1657350"/>
            <a:ext cx="4953000" cy="123825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85800" y="1657350"/>
            <a:ext cx="38100" cy="12382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57250" y="180975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模型能力互补</a:t>
            </a:r>
            <a:endParaRPr sz="127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57250" y="2133600"/>
            <a:ext cx="4000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DeepSeek、Qwen、Kimi 在推理、中文表达、长文本和多模态上各有所长，单模型难以覆盖所有场景。</a:t>
            </a:r>
            <a:endParaRPr sz="101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0" y="1866900"/>
            <a:ext cx="304800" cy="304800"/>
          </a:xfrm>
          <a:prstGeom prst="rect">
            <a:avLst/>
          </a:prstGeom>
        </p:spPr>
      </p:pic>
      <p:sp>
        <p:nvSpPr>
          <p:cNvPr id="31" name="矩形 30"/>
          <p:cNvSpPr>
            <a:spLocks noGrp="1"/>
          </p:cNvSpPr>
          <p:nvPr/>
        </p:nvSpPr>
        <p:spPr>
          <a:xfrm>
            <a:off x="6096000" y="1657350"/>
            <a:ext cx="4953000" cy="123825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096000" y="1657350"/>
            <a:ext cx="38100" cy="1238250"/>
          </a:xfrm>
          <a:prstGeom prst="rect">
            <a:avLst/>
          </a:prstGeom>
          <a:solidFill>
            <a:srgbClr val="34D3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6267450" y="180975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34D39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34D39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资料分散难用</a:t>
            </a:r>
            <a:endParaRPr sz="1275" b="1">
              <a:solidFill>
                <a:srgbClr val="34D39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267450" y="2133600"/>
            <a:ext cx="4000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本地文档、网页资料、历史会话和 AI 生成文件散落在不同入口，问答前整理成本高。</a:t>
            </a:r>
            <a:endParaRPr sz="101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39400" y="1866900"/>
            <a:ext cx="304800" cy="304800"/>
          </a:xfrm>
          <a:prstGeom prst="rect">
            <a:avLst/>
          </a:prstGeom>
        </p:spPr>
      </p:pic>
      <p:sp>
        <p:nvSpPr>
          <p:cNvPr id="36" name="矩形 35"/>
          <p:cNvSpPr>
            <a:spLocks noGrp="1"/>
          </p:cNvSpPr>
          <p:nvPr/>
        </p:nvSpPr>
        <p:spPr>
          <a:xfrm>
            <a:off x="685800" y="3295650"/>
            <a:ext cx="4953000" cy="123825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85800" y="3295650"/>
            <a:ext cx="38100" cy="123825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57250" y="344805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私有资料缺溯源</a:t>
            </a:r>
            <a:endParaRPr sz="1275" b="1">
              <a:solidFill>
                <a:srgbClr val="F59E0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57250" y="3771900"/>
            <a:ext cx="4000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通用模型不懂用户上传资料；没有检索增强时容易答非所问，也缺少引用依据。</a:t>
            </a:r>
            <a:endParaRPr sz="101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9200" y="3505200"/>
            <a:ext cx="304800" cy="304800"/>
          </a:xfrm>
          <a:prstGeom prst="rect">
            <a:avLst/>
          </a:prstGeom>
        </p:spPr>
      </p:pic>
      <p:sp>
        <p:nvSpPr>
          <p:cNvPr id="41" name="矩形 40"/>
          <p:cNvSpPr>
            <a:spLocks noGrp="1"/>
          </p:cNvSpPr>
          <p:nvPr/>
        </p:nvSpPr>
        <p:spPr>
          <a:xfrm>
            <a:off x="6096000" y="3295650"/>
            <a:ext cx="4953000" cy="123825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6096000" y="3295650"/>
            <a:ext cx="38100" cy="1238250"/>
          </a:xfrm>
          <a:prstGeom prst="rect">
            <a:avLst/>
          </a:prstGeom>
          <a:solidFill>
            <a:srgbClr val="A78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267450" y="344805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A78BF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A78BF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 需要能执行</a:t>
            </a:r>
            <a:endParaRPr sz="1275" b="1">
              <a:solidFill>
                <a:srgbClr val="A78BF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267450" y="3771900"/>
            <a:ext cx="4000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真实任务不仅要回答，还要读文件、列目录、生成 Word、画流程图、导入网页资料。</a:t>
            </a:r>
            <a:endParaRPr sz="101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39400" y="3505200"/>
            <a:ext cx="304800" cy="304800"/>
          </a:xfrm>
          <a:prstGeom prst="rect">
            <a:avLst/>
          </a:prstGeom>
        </p:spPr>
      </p:pic>
      <p:sp>
        <p:nvSpPr>
          <p:cNvPr id="46" name="矩形 45"/>
          <p:cNvSpPr>
            <a:spLocks noGrp="1"/>
          </p:cNvSpPr>
          <p:nvPr/>
        </p:nvSpPr>
        <p:spPr>
          <a:xfrm>
            <a:off x="1809750" y="5257800"/>
            <a:ext cx="8572500" cy="533400"/>
          </a:xfrm>
          <a:prstGeom prst="rect">
            <a:avLst/>
          </a:prstGeom>
          <a:solidFill>
            <a:srgbClr val="102033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2076450" y="5438775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设计判断</a:t>
            </a:r>
            <a:endParaRPr sz="1050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3048000" y="5419725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把多模型、RAG、网页资料、工具执行与成果物管理放进同一条任务链路，降低复杂任务的切换成本。</a:t>
            </a:r>
            <a:endParaRPr sz="1125" b="0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F2235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0" y="952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0" y="2095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0" y="3238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0" y="4381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0" y="5524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0" y="6667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763000" y="0"/>
            <a:ext cx="3429000" cy="1714500"/>
          </a:xfrm>
          <a:prstGeom prst="rect">
            <a:avLst/>
          </a:prstGeom>
          <a:solidFill>
            <a:srgbClr val="1024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33400" y="3429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Relic 项目展示</a:t>
            </a:r>
            <a:endParaRPr sz="1200" b="1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991100" y="1428750"/>
            <a:ext cx="21907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7500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191125" y="2819400"/>
            <a:ext cx="1809750" cy="381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524000" y="3124200"/>
            <a:ext cx="9144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2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2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软件功能</a:t>
            </a:r>
            <a:endParaRPr sz="32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381250" y="3905250"/>
            <a:ext cx="7429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围绕用户工作流，形成“资料进入、智能处理、结果沉淀”的功能闭环。</a:t>
            </a:r>
            <a:endParaRPr sz="142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095500" y="4857750"/>
            <a:ext cx="1381125" cy="476250"/>
          </a:xfrm>
          <a:prstGeom prst="rect">
            <a:avLst/>
          </a:prstGeom>
          <a:solidFill>
            <a:srgbClr val="162234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209800" y="5010150"/>
            <a:ext cx="11525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能力矩阵</a:t>
            </a:r>
            <a:endParaRPr sz="1050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762375" y="4857750"/>
            <a:ext cx="1381125" cy="476250"/>
          </a:xfrm>
          <a:prstGeom prst="rect">
            <a:avLst/>
          </a:prstGeom>
          <a:solidFill>
            <a:srgbClr val="162234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3876675" y="5010150"/>
            <a:ext cx="11525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工作流</a:t>
            </a:r>
            <a:endParaRPr sz="1050" b="1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429250" y="4857750"/>
            <a:ext cx="1381125" cy="476250"/>
          </a:xfrm>
          <a:prstGeom prst="rect">
            <a:avLst/>
          </a:prstGeom>
          <a:solidFill>
            <a:srgbClr val="162234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5543550" y="5010150"/>
            <a:ext cx="11525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演示脚本</a:t>
            </a:r>
            <a:endParaRPr sz="1050" b="1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763250" y="6172200"/>
            <a:ext cx="904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 / 20</a:t>
            </a:r>
            <a:endParaRPr sz="90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F2235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0" y="952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0" y="2095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0" y="3238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0" y="4381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0" y="5524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0" y="6667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763000" y="0"/>
            <a:ext cx="3429000" cy="1714500"/>
          </a:xfrm>
          <a:prstGeom prst="rect">
            <a:avLst/>
          </a:prstGeom>
          <a:solidFill>
            <a:srgbClr val="1024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33400" y="2667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Relic</a:t>
            </a:r>
            <a:endParaRPr sz="12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66800" y="400050"/>
            <a:ext cx="45720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733550" y="276225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软件功能</a:t>
            </a:r>
            <a:endParaRPr sz="82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63250" y="295275"/>
            <a:ext cx="904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 / 20</a:t>
            </a:r>
            <a:endParaRPr sz="90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33400" y="685800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一个入口，十二类能力形成完整 AI 工作台</a:t>
            </a:r>
            <a:endParaRPr sz="23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33400" y="1209675"/>
            <a:ext cx="800100" cy="3810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485900" y="1162050"/>
            <a:ext cx="781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功能不是堆清单，而是围绕复杂资料任务组织成闭环。</a:t>
            </a:r>
            <a:endParaRPr sz="105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90550" y="1571625"/>
            <a:ext cx="11010900" cy="4200525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590550" y="1571625"/>
            <a:ext cx="11010900" cy="466725"/>
          </a:xfrm>
          <a:prstGeom prst="rect">
            <a:avLst/>
          </a:prstGeom>
          <a:solidFill>
            <a:srgbClr val="1C2A3A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85800" y="1666875"/>
            <a:ext cx="1571244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能力域</a:t>
            </a:r>
            <a:endParaRPr sz="9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447544" y="1666875"/>
            <a:ext cx="2231898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功能模块</a:t>
            </a:r>
            <a:endParaRPr sz="9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352294" y="1571625"/>
            <a:ext cx="9525" cy="4200525"/>
          </a:xfrm>
          <a:prstGeom prst="rect">
            <a:avLst/>
          </a:prstGeom>
          <a:solidFill>
            <a:srgbClr val="2A3A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4869942" y="1666875"/>
            <a:ext cx="6636258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用户能获得什么</a:t>
            </a:r>
            <a:endParaRPr sz="9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774692" y="1571625"/>
            <a:ext cx="9525" cy="4200525"/>
          </a:xfrm>
          <a:prstGeom prst="rect">
            <a:avLst/>
          </a:prstGeom>
          <a:solidFill>
            <a:srgbClr val="2A3A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590550" y="2038350"/>
            <a:ext cx="11010900" cy="9525"/>
          </a:xfrm>
          <a:prstGeom prst="rect">
            <a:avLst/>
          </a:prstGeom>
          <a:solidFill>
            <a:srgbClr val="2230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685800" y="2133600"/>
            <a:ext cx="1571244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4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对话</a:t>
            </a:r>
            <a:endParaRPr sz="840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2447544" y="2133600"/>
            <a:ext cx="2231898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4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多模型编排</a:t>
            </a:r>
            <a:endParaRPr sz="84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4869942" y="2133600"/>
            <a:ext cx="6636258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4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SINGLE 直答；MULTI 中 Advisor 并行分析、Leader 聚合输出</a:t>
            </a:r>
            <a:endParaRPr sz="84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90550" y="2505075"/>
            <a:ext cx="11010900" cy="9525"/>
          </a:xfrm>
          <a:prstGeom prst="rect">
            <a:avLst/>
          </a:prstGeom>
          <a:solidFill>
            <a:srgbClr val="2230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685800" y="2600325"/>
            <a:ext cx="1571244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4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路由</a:t>
            </a:r>
            <a:endParaRPr sz="840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2447544" y="2600325"/>
            <a:ext cx="2231898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4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智能语义路由</a:t>
            </a:r>
            <a:endParaRPr sz="84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4869942" y="2600325"/>
            <a:ext cx="6636258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4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规则识别 + Ollama 本地分类，判断 FAST / TOOL_FIRST</a:t>
            </a:r>
            <a:endParaRPr sz="84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90550" y="2971800"/>
            <a:ext cx="11010900" cy="9525"/>
          </a:xfrm>
          <a:prstGeom prst="rect">
            <a:avLst/>
          </a:prstGeom>
          <a:solidFill>
            <a:srgbClr val="2230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685800" y="3067050"/>
            <a:ext cx="1571244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4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知识</a:t>
            </a:r>
            <a:endParaRPr sz="840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2447544" y="3067050"/>
            <a:ext cx="2231898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4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RAG 知识库</a:t>
            </a:r>
            <a:endParaRPr sz="84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4869942" y="3067050"/>
            <a:ext cx="6636258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4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上传文件、分块、向量化、检索增强、返回 citations</a:t>
            </a:r>
            <a:endParaRPr sz="84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590550" y="3438525"/>
            <a:ext cx="11010900" cy="9525"/>
          </a:xfrm>
          <a:prstGeom prst="rect">
            <a:avLst/>
          </a:prstGeom>
          <a:solidFill>
            <a:srgbClr val="2230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685800" y="3533775"/>
            <a:ext cx="1571244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4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联网</a:t>
            </a:r>
            <a:endParaRPr sz="840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2447544" y="3533775"/>
            <a:ext cx="2231898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4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网页资源导入</a:t>
            </a:r>
            <a:endParaRPr sz="84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4869942" y="3533775"/>
            <a:ext cx="6636258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4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DuckDuckGo 搜索、网页抓取、正文抽取、保存为 Markdown</a:t>
            </a:r>
            <a:endParaRPr sz="84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590550" y="3905250"/>
            <a:ext cx="11010900" cy="9525"/>
          </a:xfrm>
          <a:prstGeom prst="rect">
            <a:avLst/>
          </a:prstGeom>
          <a:solidFill>
            <a:srgbClr val="2230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685800" y="4000500"/>
            <a:ext cx="1571244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4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行动</a:t>
            </a:r>
            <a:endParaRPr sz="840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2447544" y="4000500"/>
            <a:ext cx="2231898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4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工具调用</a:t>
            </a:r>
            <a:endParaRPr sz="84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4869942" y="4000500"/>
            <a:ext cx="6636258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4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读写文件、列目录、生成 Word、渲染 Mermaid 图表</a:t>
            </a:r>
            <a:endParaRPr sz="84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590550" y="4371975"/>
            <a:ext cx="11010900" cy="9525"/>
          </a:xfrm>
          <a:prstGeom prst="rect">
            <a:avLst/>
          </a:prstGeom>
          <a:solidFill>
            <a:srgbClr val="2230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685800" y="4467225"/>
            <a:ext cx="1571244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4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成果</a:t>
            </a:r>
            <a:endParaRPr sz="840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2447544" y="4467225"/>
            <a:ext cx="2231898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4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Studio 管理</a:t>
            </a:r>
            <a:endParaRPr sz="84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4869942" y="4467225"/>
            <a:ext cx="6636258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4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Markdown / PDF / Word / PPT / Excel / 图片等生成文件下载与移除</a:t>
            </a:r>
            <a:endParaRPr sz="84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590550" y="4838700"/>
            <a:ext cx="11010900" cy="9525"/>
          </a:xfrm>
          <a:prstGeom prst="rect">
            <a:avLst/>
          </a:prstGeom>
          <a:solidFill>
            <a:srgbClr val="2230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685800" y="4933950"/>
            <a:ext cx="1571244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4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体验</a:t>
            </a:r>
            <a:endParaRPr sz="840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2447544" y="4933950"/>
            <a:ext cx="2231898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4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多模态输入</a:t>
            </a:r>
            <a:endParaRPr sz="84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4869942" y="4933950"/>
            <a:ext cx="6636258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4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图片和音频作为 MessagePart，优先路由给支持 Provider</a:t>
            </a:r>
            <a:endParaRPr sz="84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590550" y="5305425"/>
            <a:ext cx="11010900" cy="9525"/>
          </a:xfrm>
          <a:prstGeom prst="rect">
            <a:avLst/>
          </a:prstGeom>
          <a:solidFill>
            <a:srgbClr val="2230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685800" y="5400675"/>
            <a:ext cx="1571244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4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平台</a:t>
            </a:r>
            <a:endParaRPr sz="840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2447544" y="5400675"/>
            <a:ext cx="2231898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4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技能扩展与部署</a:t>
            </a:r>
            <a:endParaRPr sz="84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4869942" y="5400675"/>
            <a:ext cx="6636258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4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ClawHub/GitHub Skill 导入，Docker Compose 一键启动</a:t>
            </a:r>
            <a:endParaRPr sz="84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F2235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0" y="952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0" y="2095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0" y="3238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0" y="4381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0" y="5524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0" y="6667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763000" y="0"/>
            <a:ext cx="3429000" cy="1714500"/>
          </a:xfrm>
          <a:prstGeom prst="rect">
            <a:avLst/>
          </a:prstGeom>
          <a:solidFill>
            <a:srgbClr val="1024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33400" y="2667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Relic</a:t>
            </a:r>
            <a:endParaRPr sz="12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66800" y="400050"/>
            <a:ext cx="45720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733550" y="276225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软件功能</a:t>
            </a:r>
            <a:endParaRPr sz="82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63250" y="295275"/>
            <a:ext cx="904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07 / 20</a:t>
            </a:r>
            <a:endParaRPr sz="90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33400" y="685800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核心使用流程：从资料到回答，再到可下载成果物</a:t>
            </a:r>
            <a:endParaRPr sz="23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33400" y="1209675"/>
            <a:ext cx="800100" cy="3810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485900" y="1162050"/>
            <a:ext cx="781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前端形态是 Chat Studio：左侧来源/会话，中间流式对话，右侧成果物管理。</a:t>
            </a:r>
            <a:endParaRPr sz="105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66750" y="1657350"/>
            <a:ext cx="2034540" cy="1123950"/>
          </a:xfrm>
          <a:prstGeom prst="rect">
            <a:avLst/>
          </a:prstGeom>
          <a:solidFill>
            <a:srgbClr val="162234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81050" y="1819275"/>
            <a:ext cx="180594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上传/导入</a:t>
            </a:r>
            <a:endParaRPr sz="97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81050" y="2105025"/>
            <a:ext cx="180594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本地文件、网页搜索结果、历史资料进入 Workspace</a:t>
            </a:r>
            <a:endParaRPr sz="86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701290" y="2219325"/>
            <a:ext cx="17145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2748915" y="2105025"/>
            <a:ext cx="114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200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2872740" y="1657350"/>
            <a:ext cx="2034540" cy="1123950"/>
          </a:xfrm>
          <a:prstGeom prst="rect">
            <a:avLst/>
          </a:prstGeom>
          <a:solidFill>
            <a:srgbClr val="162234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2987040" y="1819275"/>
            <a:ext cx="180594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索引/附带</a:t>
            </a:r>
            <a:endParaRPr sz="97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987040" y="2105025"/>
            <a:ext cx="180594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RAG 手动或自动索引；附件可直接参与对话</a:t>
            </a:r>
            <a:endParaRPr sz="86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907280" y="2219325"/>
            <a:ext cx="17145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4954905" y="2105025"/>
            <a:ext cx="114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200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078730" y="1657350"/>
            <a:ext cx="2034540" cy="1123950"/>
          </a:xfrm>
          <a:prstGeom prst="rect">
            <a:avLst/>
          </a:prstGeom>
          <a:solidFill>
            <a:srgbClr val="162234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5193030" y="1819275"/>
            <a:ext cx="180594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提问</a:t>
            </a:r>
            <a:endParaRPr sz="97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193030" y="2105025"/>
            <a:ext cx="180594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用户在同一输入区配置模式、附件与工作目录</a:t>
            </a:r>
            <a:endParaRPr sz="86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7113270" y="2219325"/>
            <a:ext cx="17145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7160895" y="2105025"/>
            <a:ext cx="114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200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7284720" y="1657350"/>
            <a:ext cx="2034540" cy="1123950"/>
          </a:xfrm>
          <a:prstGeom prst="rect">
            <a:avLst/>
          </a:prstGeom>
          <a:solidFill>
            <a:srgbClr val="162234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7399020" y="1819275"/>
            <a:ext cx="180594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路由处理</a:t>
            </a:r>
            <a:endParaRPr sz="97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7399020" y="2105025"/>
            <a:ext cx="180594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模型、RAG、网页资源和工具按意图协同</a:t>
            </a:r>
            <a:endParaRPr sz="86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9319260" y="2219325"/>
            <a:ext cx="17145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9366885" y="2105025"/>
            <a:ext cx="114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200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9490710" y="1657350"/>
            <a:ext cx="2034540" cy="1123950"/>
          </a:xfrm>
          <a:prstGeom prst="rect">
            <a:avLst/>
          </a:prstGeom>
          <a:solidFill>
            <a:srgbClr val="162234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9605010" y="1819275"/>
            <a:ext cx="180594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成果沉淀</a:t>
            </a:r>
            <a:endParaRPr sz="975" b="1">
              <a:solidFill>
                <a:srgbClr val="F59E0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9605010" y="2105025"/>
            <a:ext cx="180594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流式回答、引用卡片、图表、Word 等文件进入 Studio</a:t>
            </a:r>
            <a:endParaRPr sz="86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762000" y="3524250"/>
            <a:ext cx="4953000" cy="74295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762000" y="3524250"/>
            <a:ext cx="38100" cy="7429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933450" y="3676650"/>
            <a:ext cx="4610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资料问答</a:t>
            </a:r>
            <a:endParaRPr sz="127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933450" y="4000500"/>
            <a:ext cx="4610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上传课程资料 → 建索引 → 基于资料提问 → citations 溯源</a:t>
            </a:r>
            <a:endParaRPr sz="97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6143625" y="3524250"/>
            <a:ext cx="4953000" cy="74295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6143625" y="3524250"/>
            <a:ext cx="38100" cy="7429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6315075" y="3676650"/>
            <a:ext cx="4610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联网研究</a:t>
            </a:r>
            <a:endParaRPr sz="127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6315075" y="4000500"/>
            <a:ext cx="4610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搜索关键词 → 导入网页 → 自动索引 → 基于网页整理报告</a:t>
            </a:r>
            <a:endParaRPr sz="97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762000" y="4648200"/>
            <a:ext cx="4953000" cy="74295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762000" y="4648200"/>
            <a:ext cx="38100" cy="74295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933450" y="4800600"/>
            <a:ext cx="4610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生成成果</a:t>
            </a:r>
            <a:endParaRPr sz="1275" b="1">
              <a:solidFill>
                <a:srgbClr val="F59E0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933450" y="5124450"/>
            <a:ext cx="4610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一句话生成 Word / Markdown / Mermaid 图 → Studio 下载</a:t>
            </a:r>
            <a:endParaRPr sz="97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6143625" y="4648200"/>
            <a:ext cx="4953000" cy="74295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6143625" y="4648200"/>
            <a:ext cx="38100" cy="7429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6315075" y="4800600"/>
            <a:ext cx="4610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复杂分析</a:t>
            </a:r>
            <a:endParaRPr sz="127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6315075" y="5124450"/>
            <a:ext cx="4610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切换 MULTI → 多模型并行给观点 → Leader 输出综合答案</a:t>
            </a:r>
            <a:endParaRPr sz="97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F2235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0" y="952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0" y="2095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0" y="3238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0" y="4381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0" y="5524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0" y="6667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763000" y="0"/>
            <a:ext cx="3429000" cy="1714500"/>
          </a:xfrm>
          <a:prstGeom prst="rect">
            <a:avLst/>
          </a:prstGeom>
          <a:solidFill>
            <a:srgbClr val="1024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33400" y="3429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Relic 项目展示</a:t>
            </a:r>
            <a:endParaRPr sz="1200" b="1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991100" y="1428750"/>
            <a:ext cx="21907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7500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191125" y="2819400"/>
            <a:ext cx="1809750" cy="381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524000" y="3124200"/>
            <a:ext cx="9144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2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2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技术方案</a:t>
            </a:r>
            <a:endParaRPr sz="32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381250" y="3905250"/>
            <a:ext cx="7429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前端工作台、OpenClaw 网关、Spring Boot 核心层和模型/数据组件分工明确。</a:t>
            </a:r>
            <a:endParaRPr sz="142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095500" y="4857750"/>
            <a:ext cx="1381125" cy="476250"/>
          </a:xfrm>
          <a:prstGeom prst="rect">
            <a:avLst/>
          </a:prstGeom>
          <a:solidFill>
            <a:srgbClr val="162234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209800" y="5010150"/>
            <a:ext cx="11525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架构</a:t>
            </a:r>
            <a:endParaRPr sz="1050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762375" y="4857750"/>
            <a:ext cx="1381125" cy="476250"/>
          </a:xfrm>
          <a:prstGeom prst="rect">
            <a:avLst/>
          </a:prstGeom>
          <a:solidFill>
            <a:srgbClr val="162234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3876675" y="5010150"/>
            <a:ext cx="11525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编排</a:t>
            </a:r>
            <a:endParaRPr sz="1050" b="1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429250" y="4857750"/>
            <a:ext cx="1381125" cy="476250"/>
          </a:xfrm>
          <a:prstGeom prst="rect">
            <a:avLst/>
          </a:prstGeom>
          <a:solidFill>
            <a:srgbClr val="162234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5543550" y="5010150"/>
            <a:ext cx="11525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RAG</a:t>
            </a:r>
            <a:endParaRPr sz="1050" b="1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096125" y="4857750"/>
            <a:ext cx="1381125" cy="476250"/>
          </a:xfrm>
          <a:prstGeom prst="rect">
            <a:avLst/>
          </a:prstGeom>
          <a:solidFill>
            <a:srgbClr val="162234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210425" y="5010150"/>
            <a:ext cx="11525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工具</a:t>
            </a:r>
            <a:endParaRPr sz="1050" b="1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763000" y="4857750"/>
            <a:ext cx="1381125" cy="476250"/>
          </a:xfrm>
          <a:prstGeom prst="rect">
            <a:avLst/>
          </a:prstGeom>
          <a:solidFill>
            <a:srgbClr val="162234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877300" y="5010150"/>
            <a:ext cx="11525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部署</a:t>
            </a:r>
            <a:endParaRPr sz="1050" b="1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0763250" y="6172200"/>
            <a:ext cx="904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08 / 20</a:t>
            </a:r>
            <a:endParaRPr sz="90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F2235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0" y="952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0" y="2095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0" y="3238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0" y="4381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0" y="5524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0" y="6667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763000" y="0"/>
            <a:ext cx="3429000" cy="1714500"/>
          </a:xfrm>
          <a:prstGeom prst="rect">
            <a:avLst/>
          </a:prstGeom>
          <a:solidFill>
            <a:srgbClr val="1024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33400" y="2667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Relic</a:t>
            </a:r>
            <a:endParaRPr sz="12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66800" y="400050"/>
            <a:ext cx="45720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733550" y="276225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技术方案</a:t>
            </a:r>
            <a:endParaRPr sz="82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63250" y="295275"/>
            <a:ext cx="904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09 / 20</a:t>
            </a:r>
            <a:endParaRPr sz="90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33400" y="685800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整体架构：网关轻量转发，AI 编排集中在核心层</a:t>
            </a:r>
            <a:endParaRPr sz="23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33400" y="1209675"/>
            <a:ext cx="800100" cy="3810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485900" y="1162050"/>
            <a:ext cx="781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核心层负责路由、RAG、工具调用、会话归档和 OpenAI 兼容 SSE。</a:t>
            </a:r>
            <a:endParaRPr sz="105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28650" y="1619250"/>
            <a:ext cx="2476500" cy="3619500"/>
          </a:xfrm>
          <a:prstGeom prst="rect">
            <a:avLst/>
          </a:prstGeom>
          <a:solidFill>
            <a:srgbClr val="111A27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19150" y="186690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用户端</a:t>
            </a:r>
            <a:endParaRPr sz="1350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52500" y="2247900"/>
            <a:ext cx="182880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38200" y="2571750"/>
            <a:ext cx="205740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relic-face</a:t>
            </a:r>
            <a:endParaRPr sz="112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112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Vue 3 + Vite + Pinia</a:t>
            </a:r>
            <a:endParaRPr sz="112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112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流式渲染 / 来源面板 / Studio</a:t>
            </a:r>
            <a:endParaRPr sz="112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105150" y="3409950"/>
            <a:ext cx="38100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3267075" y="3295650"/>
            <a:ext cx="171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486150" y="1619250"/>
            <a:ext cx="2476500" cy="3619500"/>
          </a:xfrm>
          <a:prstGeom prst="rect">
            <a:avLst/>
          </a:prstGeom>
          <a:solidFill>
            <a:srgbClr val="111A27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3676650" y="186690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A78BF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A78BF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接入层</a:t>
            </a:r>
            <a:endParaRPr sz="1350" b="1">
              <a:solidFill>
                <a:srgbClr val="A78BF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810000" y="2247900"/>
            <a:ext cx="1828800" cy="19050"/>
          </a:xfrm>
          <a:prstGeom prst="rect">
            <a:avLst/>
          </a:prstGeom>
          <a:solidFill>
            <a:srgbClr val="A78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3695700" y="2571750"/>
            <a:ext cx="205740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relic-gateway</a:t>
            </a:r>
            <a:endParaRPr sz="112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112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OpenClaw Gateway</a:t>
            </a:r>
            <a:endParaRPr sz="112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112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WebSocket / Canvas / Token Auth</a:t>
            </a:r>
            <a:endParaRPr sz="112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962650" y="3409950"/>
            <a:ext cx="38100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124575" y="3295650"/>
            <a:ext cx="171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343650" y="1619250"/>
            <a:ext cx="2476500" cy="3619500"/>
          </a:xfrm>
          <a:prstGeom prst="rect">
            <a:avLst/>
          </a:prstGeom>
          <a:solidFill>
            <a:srgbClr val="1A243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6534150" y="186690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核心大脑</a:t>
            </a:r>
            <a:endParaRPr sz="1350" b="1">
              <a:solidFill>
                <a:srgbClr val="F59E0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667500" y="2247900"/>
            <a:ext cx="1828800" cy="1905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553200" y="2571750"/>
            <a:ext cx="205740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relic-core</a:t>
            </a:r>
            <a:endParaRPr sz="112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112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Spring Boot 3.4.3 + Java 21</a:t>
            </a:r>
            <a:endParaRPr sz="112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112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AiRouter / RAG / Tools / History / Skills</a:t>
            </a:r>
            <a:endParaRPr sz="112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820150" y="3409950"/>
            <a:ext cx="38100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8982075" y="3295650"/>
            <a:ext cx="171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9201150" y="1619250"/>
            <a:ext cx="2476500" cy="3619500"/>
          </a:xfrm>
          <a:prstGeom prst="rect">
            <a:avLst/>
          </a:prstGeom>
          <a:solidFill>
            <a:srgbClr val="111A27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9391650" y="186690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4D39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34D39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模型与数据</a:t>
            </a:r>
            <a:endParaRPr sz="1350" b="1">
              <a:solidFill>
                <a:srgbClr val="34D39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9525000" y="2247900"/>
            <a:ext cx="1828800" cy="19050"/>
          </a:xfrm>
          <a:prstGeom prst="rect">
            <a:avLst/>
          </a:prstGeom>
          <a:solidFill>
            <a:srgbClr val="34D3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9410700" y="2571750"/>
            <a:ext cx="205740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DeepSeek / Qwen / Kimi / Ollama</a:t>
            </a:r>
            <a:endParaRPr sz="112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112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VectorStore: memory / Chroma</a:t>
            </a:r>
            <a:endParaRPr sz="112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112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Workspace: uploads / generated / history</a:t>
            </a:r>
            <a:endParaRPr sz="112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1143000" y="5762625"/>
            <a:ext cx="990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关键边界：Gateway 不做 AI 业务逻辑；真正的智能调度和可复现状态都留在 relic-core。</a:t>
            </a:r>
            <a:endParaRPr sz="1200" b="0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F2235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0" y="952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0" y="2095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0" y="3238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0" y="4381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0" y="5524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0" y="6667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763000" y="0"/>
            <a:ext cx="3429000" cy="1714500"/>
          </a:xfrm>
          <a:prstGeom prst="rect">
            <a:avLst/>
          </a:prstGeom>
          <a:solidFill>
            <a:srgbClr val="1024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33400" y="2667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Relic</a:t>
            </a:r>
            <a:endParaRPr sz="12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66800" y="400050"/>
            <a:ext cx="45720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733550" y="276225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技术方案</a:t>
            </a:r>
            <a:endParaRPr sz="82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63250" y="295275"/>
            <a:ext cx="904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 / 20</a:t>
            </a:r>
            <a:endParaRPr sz="90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33400" y="685800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多模型编排：效率优先与多专家协同可切换</a:t>
            </a:r>
            <a:endParaRPr sz="23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33400" y="1209675"/>
            <a:ext cx="800100" cy="3810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485900" y="1162050"/>
            <a:ext cx="781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SINGLE 适合日常问答；MULTI 使用 Scatter-Gather 思路收集多模型观点。</a:t>
            </a:r>
            <a:endParaRPr sz="105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5800" y="1600200"/>
            <a:ext cx="4762500" cy="220980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85800" y="1600200"/>
            <a:ext cx="4762500" cy="552450"/>
          </a:xfrm>
          <a:prstGeom prst="rect">
            <a:avLst/>
          </a:prstGeom>
          <a:solidFill>
            <a:srgbClr val="1C2A3A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81050" y="1695450"/>
            <a:ext cx="857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模式</a:t>
            </a:r>
            <a:endParaRPr sz="9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828800" y="1695450"/>
            <a:ext cx="1905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链路</a:t>
            </a:r>
            <a:endParaRPr sz="9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733550" y="1600200"/>
            <a:ext cx="9525" cy="2209800"/>
          </a:xfrm>
          <a:prstGeom prst="rect">
            <a:avLst/>
          </a:prstGeom>
          <a:solidFill>
            <a:srgbClr val="2A3A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3924300" y="1695450"/>
            <a:ext cx="1428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适用场景</a:t>
            </a:r>
            <a:endParaRPr sz="9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829050" y="1600200"/>
            <a:ext cx="9525" cy="2209800"/>
          </a:xfrm>
          <a:prstGeom prst="rect">
            <a:avLst/>
          </a:prstGeom>
          <a:solidFill>
            <a:srgbClr val="2A3A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685800" y="2152650"/>
            <a:ext cx="4762500" cy="9525"/>
          </a:xfrm>
          <a:prstGeom prst="rect">
            <a:avLst/>
          </a:prstGeom>
          <a:solidFill>
            <a:srgbClr val="2230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781050" y="2247900"/>
            <a:ext cx="857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5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SINGLE</a:t>
            </a:r>
            <a:endParaRPr sz="85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828800" y="2247900"/>
            <a:ext cx="1905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5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 Provider 直接流式回答，可走工具循环</a:t>
            </a:r>
            <a:endParaRPr sz="85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924300" y="2247900"/>
            <a:ext cx="1428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5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日常问答、效率优先</a:t>
            </a:r>
            <a:endParaRPr sz="85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85800" y="2705100"/>
            <a:ext cx="4762500" cy="9525"/>
          </a:xfrm>
          <a:prstGeom prst="rect">
            <a:avLst/>
          </a:prstGeom>
          <a:solidFill>
            <a:srgbClr val="2230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781050" y="2800350"/>
            <a:ext cx="857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5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MULTI</a:t>
            </a:r>
            <a:endParaRPr sz="85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828800" y="2800350"/>
            <a:ext cx="1905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5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Advisor 并行回答 → Leader 聚合输出</a:t>
            </a:r>
            <a:endParaRPr sz="85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3924300" y="2800350"/>
            <a:ext cx="1428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5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复杂分析、开放性问题</a:t>
            </a:r>
            <a:endParaRPr sz="85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85800" y="3257550"/>
            <a:ext cx="4762500" cy="9525"/>
          </a:xfrm>
          <a:prstGeom prst="rect">
            <a:avLst/>
          </a:prstGeom>
          <a:solidFill>
            <a:srgbClr val="2230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781050" y="3352800"/>
            <a:ext cx="857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5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TOOL_FIRST</a:t>
            </a:r>
            <a:endParaRPr sz="85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828800" y="3352800"/>
            <a:ext cx="1905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5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先执行工具，再回填模型总结</a:t>
            </a:r>
            <a:endParaRPr sz="85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3924300" y="3352800"/>
            <a:ext cx="1428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5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读文件、列目录、生成文档</a:t>
            </a:r>
            <a:endParaRPr sz="85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6286500" y="1619250"/>
            <a:ext cx="1257300" cy="666750"/>
          </a:xfrm>
          <a:prstGeom prst="rect">
            <a:avLst/>
          </a:prstGeom>
          <a:solidFill>
            <a:srgbClr val="162234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6381750" y="1809750"/>
            <a:ext cx="1066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用户问题</a:t>
            </a:r>
            <a:endParaRPr sz="97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7905750" y="1619250"/>
            <a:ext cx="1257300" cy="666750"/>
          </a:xfrm>
          <a:prstGeom prst="rect">
            <a:avLst/>
          </a:prstGeom>
          <a:solidFill>
            <a:srgbClr val="162234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8001000" y="1809750"/>
            <a:ext cx="1066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A78BF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A78BF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Advisor</a:t>
            </a:r>
            <a:endParaRPr sz="975" b="1">
              <a:solidFill>
                <a:srgbClr val="A78BF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975" b="1">
                <a:solidFill>
                  <a:srgbClr val="A78BF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A78BF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并行分发</a:t>
            </a:r>
            <a:endParaRPr sz="975" b="1">
              <a:solidFill>
                <a:srgbClr val="A78BF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9525000" y="1619250"/>
            <a:ext cx="1257300" cy="666750"/>
          </a:xfrm>
          <a:prstGeom prst="rect">
            <a:avLst/>
          </a:prstGeom>
          <a:solidFill>
            <a:srgbClr val="162234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9620250" y="1809750"/>
            <a:ext cx="1066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聚合消息</a:t>
            </a:r>
            <a:endParaRPr sz="975" b="1">
              <a:solidFill>
                <a:srgbClr val="F59E0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6286500" y="3143250"/>
            <a:ext cx="1257300" cy="666750"/>
          </a:xfrm>
          <a:prstGeom prst="rect">
            <a:avLst/>
          </a:prstGeom>
          <a:solidFill>
            <a:srgbClr val="162234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6381750" y="3333750"/>
            <a:ext cx="1066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34D39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34D39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Leader</a:t>
            </a:r>
            <a:endParaRPr sz="975" b="1">
              <a:solidFill>
                <a:srgbClr val="34D39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975" b="1">
                <a:solidFill>
                  <a:srgbClr val="34D39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34D39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综合裁决</a:t>
            </a:r>
            <a:endParaRPr sz="975" b="1">
              <a:solidFill>
                <a:srgbClr val="34D39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7905750" y="3143250"/>
            <a:ext cx="1257300" cy="666750"/>
          </a:xfrm>
          <a:prstGeom prst="rect">
            <a:avLst/>
          </a:prstGeom>
          <a:solidFill>
            <a:srgbClr val="162234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8001000" y="3333750"/>
            <a:ext cx="1066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SSE 输出</a:t>
            </a:r>
            <a:endParaRPr sz="97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7543800" y="1952625"/>
            <a:ext cx="36195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9163050" y="1952625"/>
            <a:ext cx="36195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10782300" y="2286000"/>
            <a:ext cx="19050" cy="118110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9163050" y="3476625"/>
            <a:ext cx="198120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6286500" y="4953000"/>
            <a:ext cx="4810125" cy="72390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6286500" y="4953000"/>
            <a:ext cx="38100" cy="7239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6457950" y="5105400"/>
            <a:ext cx="44672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工程保护</a:t>
            </a:r>
            <a:endParaRPr sz="1275" b="1">
              <a:solidFill>
                <a:srgbClr val="F59E0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6457950" y="5429250"/>
            <a:ext cx="4467225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6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Advisor 使用有界线程池并行执行，设置等待超时；MULTI 模式发送心跳，避免长连接无响应。</a:t>
            </a:r>
            <a:endParaRPr sz="96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F2235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0" y="952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0" y="2095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0" y="3238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0" y="4381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0" y="5524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0" y="6667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763000" y="0"/>
            <a:ext cx="3429000" cy="1714500"/>
          </a:xfrm>
          <a:prstGeom prst="rect">
            <a:avLst/>
          </a:prstGeom>
          <a:solidFill>
            <a:srgbClr val="1024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33400" y="2667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Relic</a:t>
            </a:r>
            <a:endParaRPr sz="12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66800" y="400050"/>
            <a:ext cx="45720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733550" y="276225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技术方案</a:t>
            </a:r>
            <a:endParaRPr sz="82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63250" y="295275"/>
            <a:ext cx="904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11 / 20</a:t>
            </a:r>
            <a:endParaRPr sz="90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33400" y="685800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RAG 与网页导入：把资料变成可追溯上下文</a:t>
            </a:r>
            <a:endParaRPr sz="23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33400" y="1209675"/>
            <a:ext cx="800100" cy="3810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485900" y="1162050"/>
            <a:ext cx="781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默认轻量可跑，生产验证可切换 Chroma + 外部 Embedding。</a:t>
            </a:r>
            <a:endParaRPr sz="105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66750" y="1676400"/>
            <a:ext cx="2034540" cy="1143000"/>
          </a:xfrm>
          <a:prstGeom prst="rect">
            <a:avLst/>
          </a:prstGeom>
          <a:solidFill>
            <a:srgbClr val="162234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81050" y="1838325"/>
            <a:ext cx="180594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34D39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34D39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资料进入</a:t>
            </a:r>
            <a:endParaRPr sz="975" b="1">
              <a:solidFill>
                <a:srgbClr val="34D39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81050" y="2124075"/>
            <a:ext cx="180594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上传文件或导入网页</a:t>
            </a:r>
            <a:endParaRPr sz="86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sourceId 统一管理</a:t>
            </a:r>
            <a:endParaRPr sz="86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701290" y="2247900"/>
            <a:ext cx="171450" cy="19050"/>
          </a:xfrm>
          <a:prstGeom prst="rect">
            <a:avLst/>
          </a:prstGeom>
          <a:solidFill>
            <a:srgbClr val="34D3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2748915" y="2133600"/>
            <a:ext cx="114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4D39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34D39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200" b="1">
              <a:solidFill>
                <a:srgbClr val="34D39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2872740" y="1676400"/>
            <a:ext cx="2034540" cy="1143000"/>
          </a:xfrm>
          <a:prstGeom prst="rect">
            <a:avLst/>
          </a:prstGeom>
          <a:solidFill>
            <a:srgbClr val="162234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2987040" y="1838325"/>
            <a:ext cx="180594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34D39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34D39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文本提取</a:t>
            </a:r>
            <a:endParaRPr sz="975" b="1">
              <a:solidFill>
                <a:srgbClr val="34D39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987040" y="2124075"/>
            <a:ext cx="180594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txt / md / pdf / doc / docx</a:t>
            </a:r>
            <a:endParaRPr sz="86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网页清洗正文</a:t>
            </a:r>
            <a:endParaRPr sz="86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907280" y="2247900"/>
            <a:ext cx="171450" cy="19050"/>
          </a:xfrm>
          <a:prstGeom prst="rect">
            <a:avLst/>
          </a:prstGeom>
          <a:solidFill>
            <a:srgbClr val="34D3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4954905" y="2133600"/>
            <a:ext cx="114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4D39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34D39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200" b="1">
              <a:solidFill>
                <a:srgbClr val="34D39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078730" y="1676400"/>
            <a:ext cx="2034540" cy="1143000"/>
          </a:xfrm>
          <a:prstGeom prst="rect">
            <a:avLst/>
          </a:prstGeom>
          <a:solidFill>
            <a:srgbClr val="162234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5193030" y="1838325"/>
            <a:ext cx="180594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34D39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34D39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分块向量化</a:t>
            </a:r>
            <a:endParaRPr sz="975" b="1">
              <a:solidFill>
                <a:srgbClr val="34D39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193030" y="2124075"/>
            <a:ext cx="180594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chunk 1000</a:t>
            </a:r>
            <a:endParaRPr sz="86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overlap 150</a:t>
            </a:r>
            <a:endParaRPr sz="86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7113270" y="2247900"/>
            <a:ext cx="171450" cy="19050"/>
          </a:xfrm>
          <a:prstGeom prst="rect">
            <a:avLst/>
          </a:prstGeom>
          <a:solidFill>
            <a:srgbClr val="34D3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7160895" y="2133600"/>
            <a:ext cx="114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4D39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34D39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200" b="1">
              <a:solidFill>
                <a:srgbClr val="34D39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7284720" y="1676400"/>
            <a:ext cx="2034540" cy="1143000"/>
          </a:xfrm>
          <a:prstGeom prst="rect">
            <a:avLst/>
          </a:prstGeom>
          <a:solidFill>
            <a:srgbClr val="162234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7399020" y="1838325"/>
            <a:ext cx="180594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34D39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34D39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检索增强</a:t>
            </a:r>
            <a:endParaRPr sz="975" b="1">
              <a:solidFill>
                <a:srgbClr val="34D39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7399020" y="2124075"/>
            <a:ext cx="180594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按 sourceId 检索 topK</a:t>
            </a:r>
            <a:endParaRPr sz="86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注入 system context</a:t>
            </a:r>
            <a:endParaRPr sz="86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9319260" y="2247900"/>
            <a:ext cx="171450" cy="19050"/>
          </a:xfrm>
          <a:prstGeom prst="rect">
            <a:avLst/>
          </a:prstGeom>
          <a:solidFill>
            <a:srgbClr val="34D3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9366885" y="2133600"/>
            <a:ext cx="114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4D39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34D39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200" b="1">
              <a:solidFill>
                <a:srgbClr val="34D39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9490710" y="1676400"/>
            <a:ext cx="2034540" cy="1143000"/>
          </a:xfrm>
          <a:prstGeom prst="rect">
            <a:avLst/>
          </a:prstGeom>
          <a:solidFill>
            <a:srgbClr val="162234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9605010" y="1838325"/>
            <a:ext cx="180594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引用输出</a:t>
            </a:r>
            <a:endParaRPr sz="975" b="1">
              <a:solidFill>
                <a:srgbClr val="F59E0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9605010" y="2124075"/>
            <a:ext cx="180594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首个 SSE chunk 携带</a:t>
            </a:r>
            <a:endParaRPr sz="86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citations 引用卡片</a:t>
            </a:r>
            <a:endParaRPr sz="86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895350" y="3524250"/>
            <a:ext cx="10401300" cy="228600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895350" y="3524250"/>
            <a:ext cx="10401300" cy="457200"/>
          </a:xfrm>
          <a:prstGeom prst="rect">
            <a:avLst/>
          </a:prstGeom>
          <a:solidFill>
            <a:srgbClr val="1C2A3A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990600" y="3619500"/>
            <a:ext cx="2097786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状态</a:t>
            </a:r>
            <a:endParaRPr sz="9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3278886" y="3619500"/>
            <a:ext cx="2721864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含义</a:t>
            </a:r>
            <a:endParaRPr sz="9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3183636" y="3524250"/>
            <a:ext cx="9525" cy="2286000"/>
          </a:xfrm>
          <a:prstGeom prst="rect">
            <a:avLst/>
          </a:prstGeom>
          <a:solidFill>
            <a:srgbClr val="2A3A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6191250" y="3619500"/>
            <a:ext cx="5010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前端表现</a:t>
            </a:r>
            <a:endParaRPr sz="9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6096000" y="3524250"/>
            <a:ext cx="9525" cy="2286000"/>
          </a:xfrm>
          <a:prstGeom prst="rect">
            <a:avLst/>
          </a:prstGeom>
          <a:solidFill>
            <a:srgbClr val="2A3A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895350" y="3981450"/>
            <a:ext cx="10401300" cy="9525"/>
          </a:xfrm>
          <a:prstGeom prst="rect">
            <a:avLst/>
          </a:prstGeom>
          <a:solidFill>
            <a:srgbClr val="2230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990600" y="4076700"/>
            <a:ext cx="2097786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NOT_INDEXED</a:t>
            </a:r>
            <a:endParaRPr sz="900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3278886" y="4076700"/>
            <a:ext cx="2721864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尚未建索引</a:t>
            </a:r>
            <a:endParaRPr sz="90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6191250" y="4076700"/>
            <a:ext cx="5010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显示未索引，可手动触发</a:t>
            </a:r>
            <a:endParaRPr sz="90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895350" y="4438650"/>
            <a:ext cx="10401300" cy="9525"/>
          </a:xfrm>
          <a:prstGeom prst="rect">
            <a:avLst/>
          </a:prstGeom>
          <a:solidFill>
            <a:srgbClr val="2230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990600" y="4533900"/>
            <a:ext cx="2097786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INDEXING</a:t>
            </a:r>
            <a:endParaRPr sz="900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3278886" y="4533900"/>
            <a:ext cx="2721864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正在异步索引</a:t>
            </a:r>
            <a:endParaRPr sz="90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6191250" y="4533900"/>
            <a:ext cx="5010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显示索引中并轮询</a:t>
            </a:r>
            <a:endParaRPr sz="90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895350" y="4895850"/>
            <a:ext cx="10401300" cy="9525"/>
          </a:xfrm>
          <a:prstGeom prst="rect">
            <a:avLst/>
          </a:prstGeom>
          <a:solidFill>
            <a:srgbClr val="2230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990600" y="4991100"/>
            <a:ext cx="2097786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COMPLETED</a:t>
            </a:r>
            <a:endParaRPr sz="900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3278886" y="4991100"/>
            <a:ext cx="2721864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索引完成</a:t>
            </a:r>
            <a:endParaRPr sz="90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6191250" y="4991100"/>
            <a:ext cx="5010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标记已索引块数，可用于问答</a:t>
            </a:r>
            <a:endParaRPr sz="90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895350" y="5353050"/>
            <a:ext cx="10401300" cy="9525"/>
          </a:xfrm>
          <a:prstGeom prst="rect">
            <a:avLst/>
          </a:prstGeom>
          <a:solidFill>
            <a:srgbClr val="2230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990600" y="5448300"/>
            <a:ext cx="2097786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FAILED</a:t>
            </a:r>
            <a:endParaRPr sz="900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3278886" y="5448300"/>
            <a:ext cx="2721864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索引失败</a:t>
            </a:r>
            <a:endParaRPr sz="90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6191250" y="5448300"/>
            <a:ext cx="5010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展示失败状态，允许重试</a:t>
            </a:r>
            <a:endParaRPr sz="90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F2235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0" y="952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0" y="2095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0" y="3238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0" y="4381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0" y="5524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0" y="6667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763000" y="0"/>
            <a:ext cx="3429000" cy="1714500"/>
          </a:xfrm>
          <a:prstGeom prst="rect">
            <a:avLst/>
          </a:prstGeom>
          <a:solidFill>
            <a:srgbClr val="1024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33400" y="2667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Relic</a:t>
            </a:r>
            <a:endParaRPr sz="12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66800" y="400050"/>
            <a:ext cx="45720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733550" y="276225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技术方案</a:t>
            </a:r>
            <a:endParaRPr sz="82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63250" y="295275"/>
            <a:ext cx="904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12 / 20</a:t>
            </a:r>
            <a:endParaRPr sz="90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33400" y="685800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工具调用让 AI 从“会说”变成“能做”</a:t>
            </a:r>
            <a:endParaRPr sz="23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33400" y="1209675"/>
            <a:ext cx="800100" cy="3810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485900" y="1162050"/>
            <a:ext cx="781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Function Calling 循环驱动文件、目录、Word 和 Mermaid 工具。</a:t>
            </a:r>
            <a:endParaRPr sz="105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42950" y="1619250"/>
            <a:ext cx="3143250" cy="80010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42950" y="1619250"/>
            <a:ext cx="38100" cy="80010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14400" y="1771650"/>
            <a:ext cx="2800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create_text_file</a:t>
            </a:r>
            <a:endParaRPr sz="127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14400" y="2095500"/>
            <a:ext cx="2800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创建文本/Markdown/JSON</a:t>
            </a:r>
            <a:endParaRPr sz="97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305300" y="1619250"/>
            <a:ext cx="3143250" cy="80010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4305300" y="1619250"/>
            <a:ext cx="38100" cy="8001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4476750" y="1771650"/>
            <a:ext cx="2800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create_docx_file</a:t>
            </a:r>
            <a:endParaRPr sz="1275" b="1">
              <a:solidFill>
                <a:srgbClr val="F59E0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476750" y="2095500"/>
            <a:ext cx="2800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生成可下载 Word 文档</a:t>
            </a:r>
            <a:endParaRPr sz="97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867650" y="1619250"/>
            <a:ext cx="3143250" cy="80010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867650" y="1619250"/>
            <a:ext cx="38100" cy="800100"/>
          </a:xfrm>
          <a:prstGeom prst="rect">
            <a:avLst/>
          </a:prstGeom>
          <a:solidFill>
            <a:srgbClr val="34D3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039100" y="1771650"/>
            <a:ext cx="2800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34D39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34D39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read_file</a:t>
            </a:r>
            <a:endParaRPr sz="1275" b="1">
              <a:solidFill>
                <a:srgbClr val="34D39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039100" y="2095500"/>
            <a:ext cx="2800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读取 txt/md/json/csv/pdf/doc/docx</a:t>
            </a:r>
            <a:endParaRPr sz="97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42950" y="2762250"/>
            <a:ext cx="3143250" cy="80010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742950" y="2762250"/>
            <a:ext cx="38100" cy="800100"/>
          </a:xfrm>
          <a:prstGeom prst="rect">
            <a:avLst/>
          </a:prstGeom>
          <a:solidFill>
            <a:srgbClr val="A78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914400" y="2914650"/>
            <a:ext cx="2800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A78BF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A78BF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list_files</a:t>
            </a:r>
            <a:endParaRPr sz="1275" b="1">
              <a:solidFill>
                <a:srgbClr val="A78BF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914400" y="3238500"/>
            <a:ext cx="2800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列出工作区或指定目录</a:t>
            </a:r>
            <a:endParaRPr sz="97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4305300" y="2762250"/>
            <a:ext cx="3143250" cy="80010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4305300" y="2762250"/>
            <a:ext cx="38100" cy="80010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4476750" y="2914650"/>
            <a:ext cx="2800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render_mermaid_chart</a:t>
            </a:r>
            <a:endParaRPr sz="127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4476750" y="3238500"/>
            <a:ext cx="2800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渲染流程图、饼图、思维导图</a:t>
            </a:r>
            <a:endParaRPr sz="97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895350" y="4400550"/>
            <a:ext cx="1943100" cy="876300"/>
          </a:xfrm>
          <a:prstGeom prst="rect">
            <a:avLst/>
          </a:prstGeom>
          <a:solidFill>
            <a:srgbClr val="162234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1009650" y="4562475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意图判断</a:t>
            </a:r>
            <a:endParaRPr sz="975" b="1">
              <a:solidFill>
                <a:srgbClr val="F59E0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1009650" y="4848225"/>
            <a:ext cx="1714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文件/图表/目录</a:t>
            </a:r>
            <a:endParaRPr sz="86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2838450" y="4838700"/>
            <a:ext cx="171450" cy="1905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2886075" y="4724400"/>
            <a:ext cx="114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200" b="1">
              <a:solidFill>
                <a:srgbClr val="F59E0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3009900" y="4400550"/>
            <a:ext cx="1943100" cy="876300"/>
          </a:xfrm>
          <a:prstGeom prst="rect">
            <a:avLst/>
          </a:prstGeom>
          <a:solidFill>
            <a:srgbClr val="162234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3124200" y="4562475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tool_calls</a:t>
            </a:r>
            <a:endParaRPr sz="975" b="1">
              <a:solidFill>
                <a:srgbClr val="F59E0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3124200" y="4848225"/>
            <a:ext cx="1714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模型生成调用参数</a:t>
            </a:r>
            <a:endParaRPr sz="86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4953000" y="4838700"/>
            <a:ext cx="171450" cy="1905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5000625" y="4724400"/>
            <a:ext cx="114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200" b="1">
              <a:solidFill>
                <a:srgbClr val="F59E0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5124450" y="4400550"/>
            <a:ext cx="1943100" cy="876300"/>
          </a:xfrm>
          <a:prstGeom prst="rect">
            <a:avLst/>
          </a:prstGeom>
          <a:solidFill>
            <a:srgbClr val="162234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5238750" y="4562475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执行工具</a:t>
            </a:r>
            <a:endParaRPr sz="975" b="1">
              <a:solidFill>
                <a:srgbClr val="F59E0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5238750" y="4848225"/>
            <a:ext cx="1714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ToolExecutor</a:t>
            </a:r>
            <a:endParaRPr sz="86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7067550" y="4838700"/>
            <a:ext cx="171450" cy="1905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7115175" y="4724400"/>
            <a:ext cx="114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200" b="1">
              <a:solidFill>
                <a:srgbClr val="F59E0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7239000" y="4400550"/>
            <a:ext cx="1943100" cy="876300"/>
          </a:xfrm>
          <a:prstGeom prst="rect">
            <a:avLst/>
          </a:prstGeom>
          <a:solidFill>
            <a:srgbClr val="162234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7353300" y="4562475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结果回填</a:t>
            </a:r>
            <a:endParaRPr sz="975" b="1">
              <a:solidFill>
                <a:srgbClr val="F59E0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7353300" y="4848225"/>
            <a:ext cx="1714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工具结果进入上下文</a:t>
            </a:r>
            <a:endParaRPr sz="86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9182100" y="4838700"/>
            <a:ext cx="171450" cy="1905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9229725" y="4724400"/>
            <a:ext cx="114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200" b="1">
              <a:solidFill>
                <a:srgbClr val="F59E0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9353550" y="4400550"/>
            <a:ext cx="1943100" cy="876300"/>
          </a:xfrm>
          <a:prstGeom prst="rect">
            <a:avLst/>
          </a:prstGeom>
          <a:solidFill>
            <a:srgbClr val="162234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9467850" y="4562475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最终回答</a:t>
            </a:r>
            <a:endParaRPr sz="975" b="1">
              <a:solidFill>
                <a:srgbClr val="F59E0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9467850" y="4848225"/>
            <a:ext cx="1714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下载链接或 inline chart</a:t>
            </a:r>
            <a:endParaRPr sz="86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1143000" y="5715000"/>
            <a:ext cx="990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保护策略：明确生成文件、列目录、画图等请求可走确定性兜底，最多 10 轮工具循环，避免无限调用。</a:t>
            </a:r>
            <a:endParaRPr sz="1125" b="0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F2235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0" y="952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0" y="2095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0" y="3238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0" y="4381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0" y="5524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0" y="6667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763000" y="0"/>
            <a:ext cx="3429000" cy="1714500"/>
          </a:xfrm>
          <a:prstGeom prst="rect">
            <a:avLst/>
          </a:prstGeom>
          <a:solidFill>
            <a:srgbClr val="1024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33400" y="2667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Relic</a:t>
            </a:r>
            <a:endParaRPr sz="12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66800" y="400050"/>
            <a:ext cx="45720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733550" y="276225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技术方案</a:t>
            </a:r>
            <a:endParaRPr sz="82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63250" y="295275"/>
            <a:ext cx="904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13 / 20</a:t>
            </a:r>
            <a:endParaRPr sz="90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33400" y="685800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工程可靠性：SSE、虚拟线程、并发锁和一键部署</a:t>
            </a:r>
            <a:endParaRPr sz="23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33400" y="1209675"/>
            <a:ext cx="800100" cy="3810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485900" y="1162050"/>
            <a:ext cx="781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项目不是只要能返回答案，还要考虑超时、中断、历史一致性和可复现启动。</a:t>
            </a:r>
            <a:endParaRPr sz="105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66750" y="1524000"/>
            <a:ext cx="4810125" cy="55245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66750" y="1524000"/>
            <a:ext cx="38100" cy="5524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38200" y="1619250"/>
            <a:ext cx="44672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OpenAI 兼容</a:t>
            </a:r>
            <a:endParaRPr sz="112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38200" y="1866900"/>
            <a:ext cx="4467225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/v1/chat/completions，前端按 SSE 解析 delta.content</a:t>
            </a:r>
            <a:endParaRPr sz="90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66750" y="2286000"/>
            <a:ext cx="4810125" cy="55245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66750" y="2286000"/>
            <a:ext cx="38100" cy="552450"/>
          </a:xfrm>
          <a:prstGeom prst="rect">
            <a:avLst/>
          </a:prstGeom>
          <a:solidFill>
            <a:srgbClr val="34D3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38200" y="2381250"/>
            <a:ext cx="44672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4D39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34D39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虚拟线程</a:t>
            </a:r>
            <a:endParaRPr sz="1125" b="1">
              <a:solidFill>
                <a:srgbClr val="34D39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38200" y="2628900"/>
            <a:ext cx="4467225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Thread.startVirtualThread 承载等待型 I/O</a:t>
            </a:r>
            <a:endParaRPr sz="90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66750" y="3048000"/>
            <a:ext cx="4810125" cy="55245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66750" y="3048000"/>
            <a:ext cx="38100" cy="5524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38200" y="3143250"/>
            <a:ext cx="44672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同会话互斥</a:t>
            </a:r>
            <a:endParaRPr sz="112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38200" y="3390900"/>
            <a:ext cx="4467225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同一 conversation 生成中拒绝并发请求</a:t>
            </a:r>
            <a:endParaRPr sz="90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66750" y="3810000"/>
            <a:ext cx="4810125" cy="55245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666750" y="3810000"/>
            <a:ext cx="38100" cy="5524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838200" y="3905250"/>
            <a:ext cx="44672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全局限流</a:t>
            </a:r>
            <a:endParaRPr sz="112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38200" y="4152900"/>
            <a:ext cx="4467225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max-concurrent-streams=8，过载快速返回</a:t>
            </a:r>
            <a:endParaRPr sz="90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66750" y="4572000"/>
            <a:ext cx="4810125" cy="55245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66750" y="4572000"/>
            <a:ext cx="38100" cy="5524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838200" y="4667250"/>
            <a:ext cx="44672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统一超时</a:t>
            </a:r>
            <a:endParaRPr sz="112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38200" y="4914900"/>
            <a:ext cx="4467225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SSE 180s，模型/工具/RAG/Advisor 各自 deadline</a:t>
            </a:r>
            <a:endParaRPr sz="90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6191250" y="1600200"/>
            <a:ext cx="4953000" cy="2476500"/>
          </a:xfrm>
          <a:prstGeom prst="rect">
            <a:avLst/>
          </a:prstGeom>
          <a:solidFill>
            <a:srgbClr val="0C1420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6477000" y="1885950"/>
            <a:ext cx="438150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8DEE9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1125" b="0">
                <a:solidFill>
                  <a:srgbClr val="D8DEE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docker compose up -d --build</a:t>
            </a:r>
            <a:endParaRPr sz="1125" b="0">
              <a:solidFill>
                <a:srgbClr val="D8DEE9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endParaRPr sz="1125"/>
          </a:p>
          <a:p>
            <a:pPr algn="l">
              <a:defRPr sz="1125" b="0">
                <a:solidFill>
                  <a:srgbClr val="D8DEE9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1125" b="0">
                <a:solidFill>
                  <a:srgbClr val="D8DEE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services:</a:t>
            </a:r>
            <a:endParaRPr sz="1125" b="0">
              <a:solidFill>
                <a:srgbClr val="D8DEE9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defRPr sz="1125" b="0">
                <a:solidFill>
                  <a:srgbClr val="D8DEE9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1125" b="0">
                <a:solidFill>
                  <a:srgbClr val="D8DEE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relic-face      5173 -&gt; Nginx</a:t>
            </a:r>
            <a:endParaRPr sz="1125" b="0">
              <a:solidFill>
                <a:srgbClr val="D8DEE9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defRPr sz="1125" b="0">
                <a:solidFill>
                  <a:srgbClr val="D8DEE9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1125" b="0">
                <a:solidFill>
                  <a:srgbClr val="D8DEE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relic-core      8082 -&gt; Spring Boot</a:t>
            </a:r>
            <a:endParaRPr sz="1125" b="0">
              <a:solidFill>
                <a:srgbClr val="D8DEE9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defRPr sz="1125" b="0">
                <a:solidFill>
                  <a:srgbClr val="D8DEE9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1125" b="0">
                <a:solidFill>
                  <a:srgbClr val="D8DEE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relic-gateway   18789 -&gt; OpenClaw</a:t>
            </a:r>
            <a:endParaRPr sz="1125" b="0">
              <a:solidFill>
                <a:srgbClr val="D8DEE9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defRPr sz="1125" b="0">
                <a:solidFill>
                  <a:srgbClr val="D8DEE9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1125" b="0">
                <a:solidFill>
                  <a:srgbClr val="D8DEE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ollama          11434 -&gt; gemma3:1b</a:t>
            </a:r>
            <a:endParaRPr sz="1125" b="0">
              <a:solidFill>
                <a:srgbClr val="D8DEE9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6191250" y="4495800"/>
            <a:ext cx="4953000" cy="68580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6191250" y="4495800"/>
            <a:ext cx="38100" cy="6858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6362700" y="4648200"/>
            <a:ext cx="4610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部署价值</a:t>
            </a:r>
            <a:endParaRPr sz="1275" b="1">
              <a:solidFill>
                <a:srgbClr val="F59E0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6362700" y="4972050"/>
            <a:ext cx="46101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前端、核心、网关、本地模型统一编排；答辩演示和团队复现都能按同一套步骤拉起。</a:t>
            </a:r>
            <a:endParaRPr sz="94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F2235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0" y="952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0" y="2095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0" y="3238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0" y="4381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0" y="5524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0" y="6667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763000" y="0"/>
            <a:ext cx="3429000" cy="1714500"/>
          </a:xfrm>
          <a:prstGeom prst="rect">
            <a:avLst/>
          </a:prstGeom>
          <a:solidFill>
            <a:srgbClr val="1024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33400" y="3429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Relic 项目展示</a:t>
            </a:r>
            <a:endParaRPr sz="1200" b="1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991100" y="1428750"/>
            <a:ext cx="21907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7500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191125" y="2819400"/>
            <a:ext cx="1809750" cy="381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524000" y="3124200"/>
            <a:ext cx="9144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2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2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创新特色</a:t>
            </a:r>
            <a:endParaRPr sz="32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381250" y="3905250"/>
            <a:ext cx="7429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Relic 的亮点不只是功能多，而是把模型、知识、工具和成果物组合成任务闭环。</a:t>
            </a:r>
            <a:endParaRPr sz="142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095500" y="4857750"/>
            <a:ext cx="1381125" cy="476250"/>
          </a:xfrm>
          <a:prstGeom prst="rect">
            <a:avLst/>
          </a:prstGeom>
          <a:solidFill>
            <a:srgbClr val="162234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209800" y="5010150"/>
            <a:ext cx="11525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协同</a:t>
            </a:r>
            <a:endParaRPr sz="1050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762375" y="4857750"/>
            <a:ext cx="1381125" cy="476250"/>
          </a:xfrm>
          <a:prstGeom prst="rect">
            <a:avLst/>
          </a:prstGeom>
          <a:solidFill>
            <a:srgbClr val="162234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3876675" y="5010150"/>
            <a:ext cx="11525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路由</a:t>
            </a:r>
            <a:endParaRPr sz="1050" b="1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429250" y="4857750"/>
            <a:ext cx="1381125" cy="476250"/>
          </a:xfrm>
          <a:prstGeom prst="rect">
            <a:avLst/>
          </a:prstGeom>
          <a:solidFill>
            <a:srgbClr val="162234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5543550" y="5010150"/>
            <a:ext cx="11525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溯源</a:t>
            </a:r>
            <a:endParaRPr sz="1050" b="1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096125" y="4857750"/>
            <a:ext cx="1381125" cy="476250"/>
          </a:xfrm>
          <a:prstGeom prst="rect">
            <a:avLst/>
          </a:prstGeom>
          <a:solidFill>
            <a:srgbClr val="162234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210425" y="5010150"/>
            <a:ext cx="11525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执行</a:t>
            </a:r>
            <a:endParaRPr sz="1050" b="1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0763250" y="6172200"/>
            <a:ext cx="904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14 / 20</a:t>
            </a:r>
            <a:endParaRPr sz="90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F2235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0" y="952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0" y="2095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0" y="3238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0" y="4381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0" y="5524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0" y="6667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763000" y="0"/>
            <a:ext cx="3429000" cy="1714500"/>
          </a:xfrm>
          <a:prstGeom prst="rect">
            <a:avLst/>
          </a:prstGeom>
          <a:solidFill>
            <a:srgbClr val="1024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33400" y="2667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Relic</a:t>
            </a:r>
            <a:endParaRPr sz="12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66800" y="400050"/>
            <a:ext cx="45720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733550" y="276225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创新特色</a:t>
            </a:r>
            <a:endParaRPr sz="82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63250" y="295275"/>
            <a:ext cx="904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15 / 20</a:t>
            </a:r>
            <a:endParaRPr sz="90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33400" y="685800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四个设计让系统从“聊天界面”变成“编排平台”</a:t>
            </a:r>
            <a:endParaRPr sz="23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33400" y="1209675"/>
            <a:ext cx="800100" cy="3810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485900" y="1162050"/>
            <a:ext cx="781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每个创新点都对应一个真实使用痛点和一组工程实现。</a:t>
            </a:r>
            <a:endParaRPr sz="105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5800" y="1638300"/>
            <a:ext cx="4953000" cy="112395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85800" y="1638300"/>
            <a:ext cx="38100" cy="11239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57250" y="179070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 AI 协同</a:t>
            </a:r>
            <a:endParaRPr sz="127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57250" y="2114550"/>
            <a:ext cx="400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9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Advisor 并行给观点，Leader 聚合裁决；复杂问题获得多视角答案。</a:t>
            </a:r>
            <a:endParaRPr sz="99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86350" y="1809750"/>
            <a:ext cx="285750" cy="285750"/>
          </a:xfrm>
          <a:prstGeom prst="rect">
            <a:avLst/>
          </a:prstGeom>
        </p:spPr>
      </p:pic>
      <p:sp>
        <p:nvSpPr>
          <p:cNvPr id="31" name="矩形 30"/>
          <p:cNvSpPr>
            <a:spLocks noGrp="1"/>
          </p:cNvSpPr>
          <p:nvPr/>
        </p:nvSpPr>
        <p:spPr>
          <a:xfrm>
            <a:off x="6096000" y="1638300"/>
            <a:ext cx="4953000" cy="112395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096000" y="1638300"/>
            <a:ext cx="38100" cy="1123950"/>
          </a:xfrm>
          <a:prstGeom prst="rect">
            <a:avLst/>
          </a:prstGeom>
          <a:solidFill>
            <a:srgbClr val="34D3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6267450" y="179070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34D39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34D39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本地语义路由</a:t>
            </a:r>
            <a:endParaRPr sz="1275" b="1">
              <a:solidFill>
                <a:srgbClr val="34D39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267450" y="2114550"/>
            <a:ext cx="400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9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gemma3:1b 做轻量 FAST / TOOL_FIRST 判断；规则路由保底，降低误判。</a:t>
            </a:r>
            <a:endParaRPr sz="99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96550" y="1809750"/>
            <a:ext cx="285750" cy="285750"/>
          </a:xfrm>
          <a:prstGeom prst="rect">
            <a:avLst/>
          </a:prstGeom>
        </p:spPr>
      </p:pic>
      <p:sp>
        <p:nvSpPr>
          <p:cNvPr id="36" name="矩形 35"/>
          <p:cNvSpPr>
            <a:spLocks noGrp="1"/>
          </p:cNvSpPr>
          <p:nvPr/>
        </p:nvSpPr>
        <p:spPr>
          <a:xfrm>
            <a:off x="685800" y="3200400"/>
            <a:ext cx="4953000" cy="112395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85800" y="3200400"/>
            <a:ext cx="38100" cy="112395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57250" y="335280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RAG 带引用</a:t>
            </a:r>
            <a:endParaRPr sz="1275" b="1">
              <a:solidFill>
                <a:srgbClr val="F59E0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57250" y="3676650"/>
            <a:ext cx="400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9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资料上传或网页导入后形成可检索知识库，回答首 chunk 携带 citations。</a:t>
            </a:r>
            <a:endParaRPr sz="99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6350" y="3371850"/>
            <a:ext cx="285750" cy="285750"/>
          </a:xfrm>
          <a:prstGeom prst="rect">
            <a:avLst/>
          </a:prstGeom>
        </p:spPr>
      </p:pic>
      <p:sp>
        <p:nvSpPr>
          <p:cNvPr id="41" name="矩形 40"/>
          <p:cNvSpPr>
            <a:spLocks noGrp="1"/>
          </p:cNvSpPr>
          <p:nvPr/>
        </p:nvSpPr>
        <p:spPr>
          <a:xfrm>
            <a:off x="6096000" y="3200400"/>
            <a:ext cx="4953000" cy="112395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6096000" y="3200400"/>
            <a:ext cx="38100" cy="1123950"/>
          </a:xfrm>
          <a:prstGeom prst="rect">
            <a:avLst/>
          </a:prstGeom>
          <a:solidFill>
            <a:srgbClr val="A78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267450" y="335280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A78BF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A78BF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工具产物闭环</a:t>
            </a:r>
            <a:endParaRPr sz="1275" b="1">
              <a:solidFill>
                <a:srgbClr val="A78BF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267450" y="3676650"/>
            <a:ext cx="400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9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模型不只生成文字，还能读写文件、生成 Word、渲染图表并进入 Studio。</a:t>
            </a:r>
            <a:endParaRPr sz="99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96550" y="3371850"/>
            <a:ext cx="285750" cy="285750"/>
          </a:xfrm>
          <a:prstGeom prst="rect">
            <a:avLst/>
          </a:prstGeom>
        </p:spPr>
      </p:pic>
      <p:sp>
        <p:nvSpPr>
          <p:cNvPr id="46" name="矩形 45"/>
          <p:cNvSpPr>
            <a:spLocks noGrp="1"/>
          </p:cNvSpPr>
          <p:nvPr/>
        </p:nvSpPr>
        <p:spPr>
          <a:xfrm>
            <a:off x="1162050" y="5391150"/>
            <a:ext cx="9867900" cy="438150"/>
          </a:xfrm>
          <a:prstGeom prst="rect">
            <a:avLst/>
          </a:prstGeom>
          <a:solidFill>
            <a:srgbClr val="111E2E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1428750" y="5534025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一句话总结：Relic 把“选模型、找资料、调工具、收成果”这些原本分散的步骤压缩到同一个对话式工作流。</a:t>
            </a:r>
            <a:endParaRPr sz="1125" b="0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F2235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0" y="952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0" y="2095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0" y="3238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0" y="4381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0" y="5524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0" y="6667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763000" y="0"/>
            <a:ext cx="3429000" cy="1714500"/>
          </a:xfrm>
          <a:prstGeom prst="rect">
            <a:avLst/>
          </a:prstGeom>
          <a:solidFill>
            <a:srgbClr val="1024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33400" y="2667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Relic</a:t>
            </a:r>
            <a:endParaRPr sz="12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66800" y="400050"/>
            <a:ext cx="45720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733550" y="276225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创新特色</a:t>
            </a:r>
            <a:endParaRPr sz="82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63250" y="295275"/>
            <a:ext cx="904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16 / 20</a:t>
            </a:r>
            <a:endParaRPr sz="90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33400" y="685800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验证与安全边界让创新可落地</a:t>
            </a:r>
            <a:endParaRPr sz="23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33400" y="1209675"/>
            <a:ext cx="800100" cy="3810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485900" y="1162050"/>
            <a:ext cx="781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功能可用之外，还补了自动化测试、RAG 生产验证和防越界设计。</a:t>
            </a:r>
            <a:endParaRPr sz="105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5800" y="1619250"/>
            <a:ext cx="5429250" cy="297180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85800" y="1619250"/>
            <a:ext cx="5429250" cy="495300"/>
          </a:xfrm>
          <a:prstGeom prst="rect">
            <a:avLst/>
          </a:prstGeom>
          <a:solidFill>
            <a:srgbClr val="1C2A3A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81050" y="1714500"/>
            <a:ext cx="208978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验证对象</a:t>
            </a:r>
            <a:endParaRPr sz="9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061335" y="1714500"/>
            <a:ext cx="295846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覆盖点</a:t>
            </a:r>
            <a:endParaRPr sz="9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966085" y="1619250"/>
            <a:ext cx="9525" cy="2971800"/>
          </a:xfrm>
          <a:prstGeom prst="rect">
            <a:avLst/>
          </a:prstGeom>
          <a:solidFill>
            <a:srgbClr val="2A3A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85800" y="2114550"/>
            <a:ext cx="5429250" cy="9525"/>
          </a:xfrm>
          <a:prstGeom prst="rect">
            <a:avLst/>
          </a:prstGeom>
          <a:solidFill>
            <a:srgbClr val="2230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781050" y="2209800"/>
            <a:ext cx="208978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OpenAiCompatibleServiceTest</a:t>
            </a:r>
            <a:endParaRPr sz="79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3061335" y="2209800"/>
            <a:ext cx="295846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SSE chunk 解析保留空白和换行</a:t>
            </a:r>
            <a:endParaRPr sz="79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85800" y="2609850"/>
            <a:ext cx="5429250" cy="9525"/>
          </a:xfrm>
          <a:prstGeom prst="rect">
            <a:avLst/>
          </a:prstGeom>
          <a:solidFill>
            <a:srgbClr val="2230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81050" y="2705100"/>
            <a:ext cx="208978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ToolCallServiceIntentTest</a:t>
            </a:r>
            <a:endParaRPr sz="79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061335" y="2705100"/>
            <a:ext cx="295846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图表/图片意图区分、目录列举、Mermaid 清洗</a:t>
            </a:r>
            <a:endParaRPr sz="79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85800" y="3105150"/>
            <a:ext cx="5429250" cy="9525"/>
          </a:xfrm>
          <a:prstGeom prst="rect">
            <a:avLst/>
          </a:prstGeom>
          <a:solidFill>
            <a:srgbClr val="2230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781050" y="3200400"/>
            <a:ext cx="208978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DuckDuckGoSearchServiceTest</a:t>
            </a:r>
            <a:endParaRPr sz="79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3061335" y="3200400"/>
            <a:ext cx="295846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跳转链接解码、去重和相关性排序</a:t>
            </a:r>
            <a:endParaRPr sz="79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85800" y="3600450"/>
            <a:ext cx="5429250" cy="9525"/>
          </a:xfrm>
          <a:prstGeom prst="rect">
            <a:avLst/>
          </a:prstGeom>
          <a:solidFill>
            <a:srgbClr val="2230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781050" y="3695700"/>
            <a:ext cx="208978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WebPageFetchServiceTest</a:t>
            </a:r>
            <a:endParaRPr sz="79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3061335" y="3695700"/>
            <a:ext cx="295846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拒绝 loopback、内网 IPv6、IPv4-mapped 地址</a:t>
            </a:r>
            <a:endParaRPr sz="79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685800" y="4095750"/>
            <a:ext cx="5429250" cy="9525"/>
          </a:xfrm>
          <a:prstGeom prst="rect">
            <a:avLst/>
          </a:prstGeom>
          <a:solidFill>
            <a:srgbClr val="2230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781050" y="4191000"/>
            <a:ext cx="208978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qa/rag-prod-test</a:t>
            </a:r>
            <a:endParaRPr sz="79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3061335" y="4191000"/>
            <a:ext cx="295846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Chroma + SiliconFlow Embedding 生产链路验证</a:t>
            </a:r>
            <a:endParaRPr sz="79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6572250" y="1619250"/>
            <a:ext cx="4762500" cy="66675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6572250" y="1619250"/>
            <a:ext cx="38100" cy="6667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6743700" y="1714500"/>
            <a:ext cx="441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Workspace 边界</a:t>
            </a:r>
            <a:endParaRPr sz="112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6743700" y="1962150"/>
            <a:ext cx="441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上传、删除、RAG 索引等文件区操作限定在工作区</a:t>
            </a:r>
            <a:endParaRPr sz="90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6572250" y="2533650"/>
            <a:ext cx="4762500" cy="66675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6572250" y="2533650"/>
            <a:ext cx="38100" cy="666750"/>
          </a:xfrm>
          <a:prstGeom prst="rect">
            <a:avLst/>
          </a:prstGeom>
          <a:solidFill>
            <a:srgbClr val="F8717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6743700" y="2628900"/>
            <a:ext cx="441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8717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F8717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SSRF 防护</a:t>
            </a:r>
            <a:endParaRPr sz="1125" b="1">
              <a:solidFill>
                <a:srgbClr val="F8717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6743700" y="2876550"/>
            <a:ext cx="441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网页抓取只允许公网 http/https，拒绝内网与危险重定向</a:t>
            </a:r>
            <a:endParaRPr sz="90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6572250" y="3448050"/>
            <a:ext cx="4762500" cy="66675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6572250" y="3448050"/>
            <a:ext cx="38100" cy="6667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6743700" y="3543300"/>
            <a:ext cx="441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并发保护</a:t>
            </a:r>
            <a:endParaRPr sz="112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6743700" y="3790950"/>
            <a:ext cx="441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同会话锁、全局限流、Advisor/Tool 有界线程池</a:t>
            </a:r>
            <a:endParaRPr sz="90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6572250" y="4362450"/>
            <a:ext cx="4762500" cy="66675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6572250" y="4362450"/>
            <a:ext cx="38100" cy="6667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6743700" y="4457700"/>
            <a:ext cx="441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可降级</a:t>
            </a:r>
            <a:endParaRPr sz="112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6743700" y="4705350"/>
            <a:ext cx="441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云端模型失败时 Ollama 可做短回答、分类和标题生成</a:t>
            </a:r>
            <a:endParaRPr sz="90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F2235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0" y="952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0" y="2095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0" y="3238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0" y="4381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0" y="5524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0" y="6667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763000" y="0"/>
            <a:ext cx="3429000" cy="1714500"/>
          </a:xfrm>
          <a:prstGeom prst="rect">
            <a:avLst/>
          </a:prstGeom>
          <a:solidFill>
            <a:srgbClr val="1024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33400" y="3429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Relic 项目展示</a:t>
            </a:r>
            <a:endParaRPr sz="1200" b="1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991100" y="1428750"/>
            <a:ext cx="21907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</a:t>
            </a:r>
            <a:endParaRPr sz="7500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191125" y="2819400"/>
            <a:ext cx="1809750" cy="381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524000" y="3124200"/>
            <a:ext cx="9144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2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2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过程管理</a:t>
            </a:r>
            <a:endParaRPr sz="32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381250" y="3905250"/>
            <a:ext cx="7429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用需求文档、设计文档、测试报告、Git 迭代和部署脚本，把项目从想法推进到可演示系统。</a:t>
            </a:r>
            <a:endParaRPr sz="142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095500" y="4857750"/>
            <a:ext cx="1381125" cy="476250"/>
          </a:xfrm>
          <a:prstGeom prst="rect">
            <a:avLst/>
          </a:prstGeom>
          <a:solidFill>
            <a:srgbClr val="162234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209800" y="5010150"/>
            <a:ext cx="11525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计划</a:t>
            </a:r>
            <a:endParaRPr sz="1050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762375" y="4857750"/>
            <a:ext cx="1381125" cy="476250"/>
          </a:xfrm>
          <a:prstGeom prst="rect">
            <a:avLst/>
          </a:prstGeom>
          <a:solidFill>
            <a:srgbClr val="162234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3876675" y="5010150"/>
            <a:ext cx="11525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迭代</a:t>
            </a:r>
            <a:endParaRPr sz="1050" b="1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429250" y="4857750"/>
            <a:ext cx="1381125" cy="476250"/>
          </a:xfrm>
          <a:prstGeom prst="rect">
            <a:avLst/>
          </a:prstGeom>
          <a:solidFill>
            <a:srgbClr val="162234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5543550" y="5010150"/>
            <a:ext cx="11525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测试</a:t>
            </a:r>
            <a:endParaRPr sz="1050" b="1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096125" y="4857750"/>
            <a:ext cx="1381125" cy="476250"/>
          </a:xfrm>
          <a:prstGeom prst="rect">
            <a:avLst/>
          </a:prstGeom>
          <a:solidFill>
            <a:srgbClr val="162234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210425" y="5010150"/>
            <a:ext cx="11525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风险</a:t>
            </a:r>
            <a:endParaRPr sz="1050" b="1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0763250" y="6172200"/>
            <a:ext cx="904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17 / 20</a:t>
            </a:r>
            <a:endParaRPr sz="90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F2235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0" y="952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0" y="2095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0" y="3238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0" y="4381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0" y="5524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0" y="6667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763000" y="0"/>
            <a:ext cx="3429000" cy="1714500"/>
          </a:xfrm>
          <a:prstGeom prst="rect">
            <a:avLst/>
          </a:prstGeom>
          <a:solidFill>
            <a:srgbClr val="1024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33400" y="2667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Relic</a:t>
            </a:r>
            <a:endParaRPr sz="12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66800" y="400050"/>
            <a:ext cx="45720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733550" y="276225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过程管理</a:t>
            </a:r>
            <a:endParaRPr sz="82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63250" y="295275"/>
            <a:ext cx="904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18 / 20</a:t>
            </a:r>
            <a:endParaRPr sz="90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33400" y="685800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从需求到交付：文档、代码、测试三条线并行推进</a:t>
            </a:r>
            <a:endParaRPr sz="23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33400" y="1209675"/>
            <a:ext cx="800100" cy="3810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485900" y="1162050"/>
            <a:ext cx="781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仓库中保留需求规格、系统设计、项目计划、测试用例表和系统测试报告。</a:t>
            </a:r>
            <a:endParaRPr sz="105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66750" y="1619250"/>
            <a:ext cx="2034540" cy="1104900"/>
          </a:xfrm>
          <a:prstGeom prst="rect">
            <a:avLst/>
          </a:prstGeom>
          <a:solidFill>
            <a:srgbClr val="162234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81050" y="1781175"/>
            <a:ext cx="180594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需求澄清</a:t>
            </a:r>
            <a:endParaRPr sz="97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81050" y="2066925"/>
            <a:ext cx="180594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定义多模型、RAG、工具、网页导入、会话归档等核心范围</a:t>
            </a:r>
            <a:endParaRPr sz="86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701290" y="2171700"/>
            <a:ext cx="17145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2748915" y="2057400"/>
            <a:ext cx="114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200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2872740" y="1619250"/>
            <a:ext cx="2034540" cy="1104900"/>
          </a:xfrm>
          <a:prstGeom prst="rect">
            <a:avLst/>
          </a:prstGeom>
          <a:solidFill>
            <a:srgbClr val="162234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2987040" y="1781175"/>
            <a:ext cx="180594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架构设计</a:t>
            </a:r>
            <a:endParaRPr sz="97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987040" y="2066925"/>
            <a:ext cx="180594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拆分 relic-face / relic-gateway / relic-core，明确核心层职责</a:t>
            </a:r>
            <a:endParaRPr sz="86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907280" y="2171700"/>
            <a:ext cx="17145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4954905" y="2057400"/>
            <a:ext cx="114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200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078730" y="1619250"/>
            <a:ext cx="2034540" cy="1104900"/>
          </a:xfrm>
          <a:prstGeom prst="rect">
            <a:avLst/>
          </a:prstGeom>
          <a:solidFill>
            <a:srgbClr val="162234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5193030" y="1781175"/>
            <a:ext cx="180594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增量实现</a:t>
            </a:r>
            <a:endParaRPr sz="97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193030" y="2066925"/>
            <a:ext cx="180594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按功能域迭代：路由、RAG、Tools、Skills、音频、多会话</a:t>
            </a:r>
            <a:endParaRPr sz="86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7113270" y="2171700"/>
            <a:ext cx="17145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7160895" y="2057400"/>
            <a:ext cx="114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200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7284720" y="1619250"/>
            <a:ext cx="2034540" cy="1104900"/>
          </a:xfrm>
          <a:prstGeom prst="rect">
            <a:avLst/>
          </a:prstGeom>
          <a:solidFill>
            <a:srgbClr val="162234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7399020" y="1781175"/>
            <a:ext cx="180594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验证修复</a:t>
            </a:r>
            <a:endParaRPr sz="97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7399020" y="2066925"/>
            <a:ext cx="180594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单元测试 + RAG 生产验证；修复联网搜索、工具提示和 Provider Bug</a:t>
            </a:r>
            <a:endParaRPr sz="86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9319260" y="2171700"/>
            <a:ext cx="17145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9366885" y="2057400"/>
            <a:ext cx="114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200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9490710" y="1619250"/>
            <a:ext cx="2034540" cy="1104900"/>
          </a:xfrm>
          <a:prstGeom prst="rect">
            <a:avLst/>
          </a:prstGeom>
          <a:solidFill>
            <a:srgbClr val="162234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9605010" y="1781175"/>
            <a:ext cx="180594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交付演示</a:t>
            </a:r>
            <a:endParaRPr sz="975" b="1">
              <a:solidFill>
                <a:srgbClr val="F59E0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9605010" y="2066925"/>
            <a:ext cx="180594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Docker Compose、quick-start 脚本、PPT 与演示脚本兜底</a:t>
            </a:r>
            <a:endParaRPr sz="86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914400" y="3524250"/>
            <a:ext cx="4648200" cy="64770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914400" y="3524250"/>
            <a:ext cx="38100" cy="647700"/>
          </a:xfrm>
          <a:prstGeom prst="rect">
            <a:avLst/>
          </a:prstGeom>
          <a:solidFill>
            <a:srgbClr val="34D3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1085850" y="3619500"/>
            <a:ext cx="4305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4D39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34D39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项目计划书</a:t>
            </a:r>
            <a:endParaRPr sz="1125" b="1">
              <a:solidFill>
                <a:srgbClr val="34D39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1085850" y="3867150"/>
            <a:ext cx="4305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3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明确范围、里程碑和任务拆分</a:t>
            </a:r>
            <a:endParaRPr sz="93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6096000" y="3524250"/>
            <a:ext cx="4648200" cy="64770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6096000" y="3524250"/>
            <a:ext cx="38100" cy="647700"/>
          </a:xfrm>
          <a:prstGeom prst="rect">
            <a:avLst/>
          </a:prstGeom>
          <a:solidFill>
            <a:srgbClr val="34D3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6267450" y="3619500"/>
            <a:ext cx="4305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4D39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34D39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需求规格说明书</a:t>
            </a:r>
            <a:endParaRPr sz="1125" b="1">
              <a:solidFill>
                <a:srgbClr val="34D39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6267450" y="3867150"/>
            <a:ext cx="4305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3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沉淀用户场景与功能需求</a:t>
            </a:r>
            <a:endParaRPr sz="93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914400" y="4457700"/>
            <a:ext cx="4648200" cy="64770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914400" y="4457700"/>
            <a:ext cx="38100" cy="6477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1085850" y="4552950"/>
            <a:ext cx="4305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系统设计文档</a:t>
            </a:r>
            <a:endParaRPr sz="1125" b="1">
              <a:solidFill>
                <a:srgbClr val="F59E0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1085850" y="4800600"/>
            <a:ext cx="4305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3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记录模块边界、接口与技术方案</a:t>
            </a:r>
            <a:endParaRPr sz="93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6096000" y="4457700"/>
            <a:ext cx="4648200" cy="64770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6096000" y="4457700"/>
            <a:ext cx="38100" cy="6477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6267450" y="4552950"/>
            <a:ext cx="4305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测试用例表 / 测试报告</a:t>
            </a:r>
            <a:endParaRPr sz="1125" b="1">
              <a:solidFill>
                <a:srgbClr val="F59E0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6267450" y="4800600"/>
            <a:ext cx="4305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3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覆盖功能可靠性、安全边界与生产验证</a:t>
            </a:r>
            <a:endParaRPr sz="93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F2235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0" y="952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0" y="2095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0" y="3238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0" y="4381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0" y="5524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0" y="6667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763000" y="0"/>
            <a:ext cx="3429000" cy="1714500"/>
          </a:xfrm>
          <a:prstGeom prst="rect">
            <a:avLst/>
          </a:prstGeom>
          <a:solidFill>
            <a:srgbClr val="1024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33400" y="2667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Relic</a:t>
            </a:r>
            <a:endParaRPr sz="12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66800" y="400050"/>
            <a:ext cx="45720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733550" y="276225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过程管理</a:t>
            </a:r>
            <a:endParaRPr sz="82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63250" y="295275"/>
            <a:ext cx="904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19 / 20</a:t>
            </a:r>
            <a:endParaRPr sz="90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33400" y="685800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版本迭代围绕问题闭环，而不是一次性堆功能</a:t>
            </a:r>
            <a:endParaRPr sz="23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33400" y="1209675"/>
            <a:ext cx="800100" cy="3810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485900" y="1162050"/>
            <a:ext cx="781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Git 记录反映了文档完善、功能扩展、Bug 修复和部署联调的持续推进。</a:t>
            </a:r>
            <a:endParaRPr sz="105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23900" y="1600200"/>
            <a:ext cx="4953000" cy="68580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23900" y="1600200"/>
            <a:ext cx="38100" cy="685800"/>
          </a:xfrm>
          <a:prstGeom prst="rect">
            <a:avLst/>
          </a:prstGeom>
          <a:solidFill>
            <a:srgbClr val="34D3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95350" y="1752600"/>
            <a:ext cx="4610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34D39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34D39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需求与文档</a:t>
            </a:r>
            <a:endParaRPr sz="1275" b="1">
              <a:solidFill>
                <a:srgbClr val="34D39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95350" y="2076450"/>
            <a:ext cx="46101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1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添加系统测试报告、测试用例表、需求规格说明书；更新项目状态与使用说明。</a:t>
            </a:r>
            <a:endParaRPr sz="91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477000" y="179070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需求与文档</a:t>
            </a:r>
            <a:endParaRPr sz="940" b="1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058150" y="1828800"/>
            <a:ext cx="2952750" cy="114300"/>
          </a:xfrm>
          <a:prstGeom prst="rect">
            <a:avLst/>
          </a:prstGeom>
          <a:solidFill>
            <a:srgbClr val="172235"/>
          </a:solidFill>
          <a:ln w="9525">
            <a:solidFill>
              <a:srgbClr val="172235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058150" y="1828800"/>
            <a:ext cx="2539365" cy="114300"/>
          </a:xfrm>
          <a:prstGeom prst="rect">
            <a:avLst/>
          </a:prstGeom>
          <a:solidFill>
            <a:srgbClr val="34D399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1087100" y="1790700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86% 完成度</a:t>
            </a:r>
            <a:endParaRPr sz="82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23900" y="2600325"/>
            <a:ext cx="4953000" cy="68580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23900" y="2600325"/>
            <a:ext cx="38100" cy="68580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95350" y="2752725"/>
            <a:ext cx="4610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功能扩展</a:t>
            </a:r>
            <a:endParaRPr sz="127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95350" y="3076575"/>
            <a:ext cx="46101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1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完善会话归档、音频输入、Skills、网页导入、RAG 生产验证。</a:t>
            </a:r>
            <a:endParaRPr sz="91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477000" y="2790825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功能扩展</a:t>
            </a:r>
            <a:endParaRPr sz="940" b="1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058150" y="2828925"/>
            <a:ext cx="2952750" cy="114300"/>
          </a:xfrm>
          <a:prstGeom prst="rect">
            <a:avLst/>
          </a:prstGeom>
          <a:solidFill>
            <a:srgbClr val="172235"/>
          </a:solidFill>
          <a:ln w="9525">
            <a:solidFill>
              <a:srgbClr val="172235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8058150" y="2828925"/>
            <a:ext cx="2303145" cy="114300"/>
          </a:xfrm>
          <a:prstGeom prst="rect">
            <a:avLst/>
          </a:prstGeom>
          <a:solidFill>
            <a:srgbClr val="22D3EE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11087100" y="279082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78% 完成度</a:t>
            </a:r>
            <a:endParaRPr sz="82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723900" y="3600450"/>
            <a:ext cx="4953000" cy="68580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723900" y="3600450"/>
            <a:ext cx="38100" cy="6858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895350" y="3752850"/>
            <a:ext cx="4610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问题修复</a:t>
            </a:r>
            <a:endParaRPr sz="1275" b="1">
              <a:solidFill>
                <a:srgbClr val="F59E0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95350" y="4076700"/>
            <a:ext cx="46101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1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修复工具调用提示、联网搜索错误、Qwen Provider Bug。</a:t>
            </a:r>
            <a:endParaRPr sz="91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6477000" y="379095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问题修复</a:t>
            </a:r>
            <a:endParaRPr sz="940" b="1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058150" y="3829050"/>
            <a:ext cx="2952750" cy="114300"/>
          </a:xfrm>
          <a:prstGeom prst="rect">
            <a:avLst/>
          </a:prstGeom>
          <a:solidFill>
            <a:srgbClr val="172235"/>
          </a:solidFill>
          <a:ln w="9525">
            <a:solidFill>
              <a:srgbClr val="172235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8058150" y="3829050"/>
            <a:ext cx="2066925" cy="11430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11087100" y="3790950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70% 完成度</a:t>
            </a:r>
            <a:endParaRPr sz="82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723900" y="4600575"/>
            <a:ext cx="4953000" cy="68580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723900" y="4600575"/>
            <a:ext cx="38100" cy="685800"/>
          </a:xfrm>
          <a:prstGeom prst="rect">
            <a:avLst/>
          </a:prstGeom>
          <a:solidFill>
            <a:srgbClr val="A78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895350" y="4752975"/>
            <a:ext cx="4610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A78BF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A78BF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演示保障</a:t>
            </a:r>
            <a:endParaRPr sz="1275" b="1">
              <a:solidFill>
                <a:srgbClr val="A78BF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895350" y="5076825"/>
            <a:ext cx="46101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1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Docker Compose、quick-start 脚本、截图兜底和测试资产准备。</a:t>
            </a:r>
            <a:endParaRPr sz="91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6477000" y="4791075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演示保障</a:t>
            </a:r>
            <a:endParaRPr sz="940" b="1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8058150" y="4829175"/>
            <a:ext cx="2952750" cy="114300"/>
          </a:xfrm>
          <a:prstGeom prst="rect">
            <a:avLst/>
          </a:prstGeom>
          <a:solidFill>
            <a:srgbClr val="172235"/>
          </a:solidFill>
          <a:ln w="9525">
            <a:solidFill>
              <a:srgbClr val="172235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8058150" y="4829175"/>
            <a:ext cx="1889760" cy="114300"/>
          </a:xfrm>
          <a:prstGeom prst="rect">
            <a:avLst/>
          </a:prstGeom>
          <a:solidFill>
            <a:srgbClr val="A78BFA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11087100" y="4791075"/>
            <a:ext cx="80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64% 完成度</a:t>
            </a:r>
            <a:endParaRPr sz="825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6515100" y="5257800"/>
            <a:ext cx="4572000" cy="514350"/>
          </a:xfrm>
          <a:prstGeom prst="rect">
            <a:avLst/>
          </a:prstGeom>
          <a:solidFill>
            <a:srgbClr val="111E2E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6743700" y="5429250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8717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F8717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风险处理</a:t>
            </a:r>
            <a:endParaRPr sz="1050" b="1">
              <a:solidFill>
                <a:srgbClr val="F8717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7715250" y="5410200"/>
            <a:ext cx="3143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网络、模型额度、网页抓取失败等风险用截图兜底、本地 Ollama、测试资产和超时控制降低影响。</a:t>
            </a:r>
            <a:endParaRPr sz="945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F2235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2286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810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334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858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382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906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430000" y="0"/>
            <a:ext cx="9525" cy="6858000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0" y="952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0" y="2095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0" y="3238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0" y="4381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0" y="5524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0" y="6667500"/>
            <a:ext cx="12192000" cy="9525"/>
          </a:xfrm>
          <a:prstGeom prst="rect">
            <a:avLst/>
          </a:prstGeom>
          <a:solidFill>
            <a:srgbClr val="0E1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763000" y="0"/>
            <a:ext cx="3429000" cy="1714500"/>
          </a:xfrm>
          <a:prstGeom prst="rect">
            <a:avLst/>
          </a:prstGeom>
          <a:solidFill>
            <a:srgbClr val="1024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33400" y="2667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Relic</a:t>
            </a:r>
            <a:endParaRPr sz="1200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66800" y="400050"/>
            <a:ext cx="457200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733550" y="276225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总结</a:t>
            </a:r>
            <a:endParaRPr sz="82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63250" y="295275"/>
            <a:ext cx="904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20 / 20</a:t>
            </a:r>
            <a:endParaRPr sz="90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33400" y="685800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Relic：从聊天入口到 AI 编排工作台</a:t>
            </a:r>
            <a:endParaRPr sz="2325" b="1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33400" y="1209675"/>
            <a:ext cx="800100" cy="3810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485900" y="1162050"/>
            <a:ext cx="781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94A3B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围绕五个要点收束：动机清楚、功能完整、方案可落地、创新可验证、过程可复现。</a:t>
            </a:r>
            <a:endParaRPr sz="1050" b="0">
              <a:solidFill>
                <a:srgbClr val="94A3B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57250" y="1543050"/>
            <a:ext cx="4762500" cy="70485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57250" y="1543050"/>
            <a:ext cx="38100" cy="7048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028700" y="1695450"/>
            <a:ext cx="4419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选题动机</a:t>
            </a:r>
            <a:endParaRPr sz="127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028700" y="2019300"/>
            <a:ext cx="4419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3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解决单模型局限、资料分散、AI 不能执行的真实痛点</a:t>
            </a:r>
            <a:endParaRPr sz="93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000750" y="1543050"/>
            <a:ext cx="4762500" cy="70485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000750" y="1543050"/>
            <a:ext cx="38100" cy="7048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172200" y="1695450"/>
            <a:ext cx="4419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软件功能</a:t>
            </a:r>
            <a:endParaRPr sz="127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172200" y="2019300"/>
            <a:ext cx="4419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3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多模型、RAG、网页导入、工具、Studio、会话与 Skills 形成闭环</a:t>
            </a:r>
            <a:endParaRPr sz="93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57250" y="2609850"/>
            <a:ext cx="4762500" cy="70485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57250" y="2609850"/>
            <a:ext cx="38100" cy="7048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1028700" y="2762250"/>
            <a:ext cx="4419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技术方案</a:t>
            </a:r>
            <a:endParaRPr sz="127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028700" y="3086100"/>
            <a:ext cx="4419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3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Vue 前端 + OpenClaw 网关 + Spring Boot 核心 + 可替换模型/向量库</a:t>
            </a:r>
            <a:endParaRPr sz="93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000750" y="2609850"/>
            <a:ext cx="4762500" cy="70485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6000750" y="2609850"/>
            <a:ext cx="38100" cy="70485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6172200" y="2762250"/>
            <a:ext cx="4419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F59E0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创新特色</a:t>
            </a:r>
            <a:endParaRPr sz="1275" b="1">
              <a:solidFill>
                <a:srgbClr val="F59E0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172200" y="3086100"/>
            <a:ext cx="4419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3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多专家协同、本地语义路由、引用溯源与工具产物闭环</a:t>
            </a:r>
            <a:endParaRPr sz="93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57250" y="3676650"/>
            <a:ext cx="10382250" cy="704850"/>
          </a:xfrm>
          <a:prstGeom prst="rect">
            <a:avLst/>
          </a:prstGeom>
          <a:solidFill>
            <a:srgbClr val="111A27"/>
          </a:solidFill>
          <a:ln w="9525">
            <a:solidFill>
              <a:srgbClr val="2A3A4F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857250" y="3676650"/>
            <a:ext cx="38100" cy="7048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1028700" y="3829050"/>
            <a:ext cx="10039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过程管理</a:t>
            </a:r>
            <a:endParaRPr sz="1275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1028700" y="4152900"/>
            <a:ext cx="100393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3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文档、测试、Git 迭代、部署脚本和风险兜底支撑交付</a:t>
            </a:r>
            <a:endParaRPr sz="93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352550" y="5314950"/>
            <a:ext cx="9486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D8DEE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下一步：Redis 无状态化、模型/RAG/工具微服务化、观测看板、密钥环境变量治理。</a:t>
            </a:r>
            <a:endParaRPr sz="1200" b="0">
              <a:solidFill>
                <a:srgbClr val="D8DEE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4972050" y="5829300"/>
            <a:ext cx="2247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15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150" b="1">
                <a:solidFill>
                  <a:srgbClr val="22D3E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Q&amp;A</a:t>
            </a:r>
            <a:endParaRPr sz="3150" b="1">
              <a:solidFill>
                <a:srgbClr val="22D3E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5595</Words>
  <Application>WPS 演示</Application>
  <PresentationFormat>Converted Presentation</PresentationFormat>
  <Paragraphs>799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4" baseType="lpstr">
      <vt:lpstr>Arial</vt:lpstr>
      <vt:lpstr>宋体</vt:lpstr>
      <vt:lpstr>Wingdings</vt:lpstr>
      <vt:lpstr>PingFang SC</vt:lpstr>
      <vt:lpstr>微软雅黑</vt:lpstr>
      <vt:lpstr>汉仪旗黑</vt:lpstr>
      <vt:lpstr>宋体</vt:lpstr>
      <vt:lpstr>Arial Unicode MS</vt:lpstr>
      <vt:lpstr>汉仪书宋二KW</vt:lpstr>
      <vt:lpstr>Calibri</vt:lpstr>
      <vt:lpstr>Helvetica Neue</vt:lpstr>
      <vt:lpstr>Menlo</vt:lpstr>
      <vt:lpstr>Menlo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陈永轩</cp:lastModifiedBy>
  <cp:revision>1</cp:revision>
  <dcterms:created xsi:type="dcterms:W3CDTF">2026-06-14T04:58:39Z</dcterms:created>
  <dcterms:modified xsi:type="dcterms:W3CDTF">2026-06-14T04:58:39Z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2052-12.1.26016.26016</vt:lpwstr>
  </property>
  <property fmtid="{D5CDD505-2E9C-101B-9397-08002B2CF9AE}" pid="3" name="ICV">
    <vt:lpwstr>9A197AC7BFAA6624FF342E6AD76E21A9_42</vt:lpwstr>
  </property>
</Properties>
</file>